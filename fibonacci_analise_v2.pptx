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2" r:id="rId3"/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 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editar 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de 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B9E565D-46F1-4D47-808D-45D0C286AC11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944B66D-6069-42D2-829E-715F61D394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F03076A-EBCF-4C87-8E04-CB09A43F82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BCCC23E-1D30-448C-AD2A-D8C4893268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32C0E2-AFB3-4FE5-ADC6-A64F24EE04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1BADA18-6E25-4A9F-9276-F66D2E3829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BE9BB36-65AF-4AC3-91E1-04E27F2150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16E7F79-048A-4712-B19C-853392C3D0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57B4610-6DC0-446A-9397-91B914FAB7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9669D3C-20C8-4D5A-BAF1-05F8A1B9AB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B276BB-F0B8-49CC-9AAE-1163736E9B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3C62C5-54E8-4A8F-A361-01FB19DFFF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BB21CD7-E8F5-4296-BC71-C1092F3AB4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8EFCDB-003F-4722-8678-E11909230D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235EB55-3B31-4192-88CC-2251C3AD42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1875C5-B263-47FA-A908-E9AC37479E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496800"/>
            <a:ext cx="82285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editar o 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formato do 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editar o 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formato do 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496800"/>
            <a:ext cx="82285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tar 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títu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0" y="0"/>
            <a:ext cx="163080" cy="5142240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6400800" y="-1097280"/>
            <a:ext cx="4570560" cy="4570560"/>
          </a:xfrm>
          <a:prstGeom prst="ellipse">
            <a:avLst/>
          </a:prstGeom>
          <a:solidFill>
            <a:srgbClr val="1b3a5c"/>
          </a:solidFill>
          <a:ln w="2556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320040" y="255960"/>
            <a:ext cx="2101680" cy="437400"/>
          </a:xfrm>
          <a:prstGeom prst="rect">
            <a:avLst/>
          </a:prstGeom>
          <a:solidFill>
            <a:srgbClr val="2a9d8f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" name="Text 3"/>
          <p:cNvSpPr/>
          <p:nvPr/>
        </p:nvSpPr>
        <p:spPr>
          <a:xfrm>
            <a:off x="320040" y="255960"/>
            <a:ext cx="210168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antarell"/>
              </a:rPr>
              <a:t>UEA  ·  EST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4"/>
          <p:cNvSpPr/>
          <p:nvPr/>
        </p:nvSpPr>
        <p:spPr>
          <a:xfrm>
            <a:off x="320040" y="100584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4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antarell"/>
              </a:rPr>
              <a:t>Fibonacci</a:t>
            </a:r>
            <a:endParaRPr lang="pt-BR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320040" y="2148840"/>
            <a:ext cx="82281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pc="300" strike="noStrike">
                <a:solidFill>
                  <a:srgbClr val="f4a261"/>
                </a:solidFill>
                <a:effectLst/>
                <a:uFillTx/>
                <a:latin typeface="Cantarell"/>
                <a:ea typeface="Cantarell"/>
              </a:rPr>
              <a:t>Análise de Complexidade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320040" y="2743200"/>
            <a:ext cx="82281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i="1" u="none" strike="noStrike">
                <a:solidFill>
                  <a:srgbClr val="7a9bb5"/>
                </a:solidFill>
                <a:effectLst/>
                <a:uFillTx/>
                <a:latin typeface="Cantarell"/>
                <a:ea typeface="Cantarell"/>
              </a:rPr>
              <a:t>Algoritmos Recursivos  ·  Plano Geral de ARs (5 Passos)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320040" y="3246120"/>
            <a:ext cx="5667840" cy="620280"/>
          </a:xfrm>
          <a:prstGeom prst="rect">
            <a:avLst/>
          </a:prstGeom>
          <a:solidFill>
            <a:srgbClr val="1b3a5c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" name="Text 8"/>
          <p:cNvSpPr/>
          <p:nvPr/>
        </p:nvSpPr>
        <p:spPr>
          <a:xfrm>
            <a:off x="320040" y="3246120"/>
            <a:ext cx="566784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4a261"/>
                </a:solidFill>
                <a:effectLst/>
                <a:uFillTx/>
                <a:latin typeface="Cantarell"/>
                <a:ea typeface="Consolas"/>
              </a:rPr>
              <a:t>T(n)  =  T(n-1)  +  T(n-2)  +  Θ(1)   →   Θ(φⁿ)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320040" y="4773240"/>
            <a:ext cx="82281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7a9bb5"/>
                </a:solidFill>
                <a:effectLst/>
                <a:uFillTx/>
                <a:latin typeface="Cantarell"/>
                <a:ea typeface="Cantarell"/>
              </a:rPr>
              <a:t>Análise de Algoritmos  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"/>
          <p:cNvSpPr/>
          <p:nvPr/>
        </p:nvSpPr>
        <p:spPr>
          <a:xfrm>
            <a:off x="320040" y="3960000"/>
            <a:ext cx="8228160" cy="65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i="1" u="none" strike="noStrike">
                <a:solidFill>
                  <a:srgbClr val="7a9bb5"/>
                </a:solidFill>
                <a:effectLst/>
                <a:uFillTx/>
                <a:latin typeface="Cantarell"/>
                <a:ea typeface="Cantarell"/>
              </a:rPr>
              <a:t>POR: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7a9bb5"/>
                </a:solidFill>
                <a:effectLst/>
                <a:uFillTx/>
                <a:latin typeface="Cantarell"/>
                <a:ea typeface="Cantarell"/>
              </a:rPr>
              <a:t>Igor </a:t>
            </a:r>
            <a:r>
              <a:rPr lang="en-US" sz="1400" b="0" u="none" strike="noStrike">
                <a:solidFill>
                  <a:srgbClr val="7a9bb5"/>
                </a:solidFill>
                <a:effectLst/>
                <a:uFillTx/>
                <a:latin typeface="Cantarell"/>
                <a:ea typeface="Cantarell"/>
              </a:rPr>
              <a:t>Meireles </a:t>
            </a:r>
            <a:r>
              <a:rPr lang="en-US" sz="1400" b="0" u="none" strike="noStrike">
                <a:solidFill>
                  <a:srgbClr val="7a9bb5"/>
                </a:solidFill>
                <a:effectLst/>
                <a:uFillTx/>
                <a:latin typeface="Cantarell"/>
                <a:ea typeface="Cantarell"/>
              </a:rPr>
              <a:t>de Lima </a:t>
            </a:r>
            <a:r>
              <a:rPr lang="en-US" sz="1400" b="0" u="none" strike="noStrike">
                <a:solidFill>
                  <a:srgbClr val="7a9bb5"/>
                </a:solidFill>
                <a:effectLst/>
                <a:uFillTx/>
                <a:latin typeface="Cantarell"/>
                <a:ea typeface="Cantarell"/>
              </a:rPr>
              <a:t>Taveira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7a9bb5"/>
                </a:solidFill>
                <a:effectLst/>
                <a:uFillTx/>
                <a:latin typeface="Cantarell"/>
                <a:ea typeface="Cantarell"/>
              </a:rPr>
              <a:t>Davih </a:t>
            </a:r>
            <a:r>
              <a:rPr lang="en-US" sz="1400" b="0" u="none" strike="noStrike">
                <a:solidFill>
                  <a:srgbClr val="7a9bb5"/>
                </a:solidFill>
                <a:effectLst/>
                <a:uFillTx/>
                <a:latin typeface="Cantarell"/>
                <a:ea typeface="Cantarell"/>
              </a:rPr>
              <a:t>Taumatur</a:t>
            </a:r>
            <a:r>
              <a:rPr lang="en-US" sz="1400" b="0" u="none" strike="noStrike">
                <a:solidFill>
                  <a:srgbClr val="7a9bb5"/>
                </a:solidFill>
                <a:effectLst/>
                <a:uFillTx/>
                <a:latin typeface="Cantarell"/>
                <a:ea typeface="Cantarell"/>
              </a:rPr>
              <a:t>go Soares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163080" cy="5142240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" name="Text 1"/>
          <p:cNvSpPr/>
          <p:nvPr/>
        </p:nvSpPr>
        <p:spPr>
          <a:xfrm>
            <a:off x="320040" y="128160"/>
            <a:ext cx="850248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4a261"/>
                </a:solidFill>
                <a:effectLst/>
                <a:uFillTx/>
                <a:latin typeface="Cantarell"/>
                <a:ea typeface="Cantarell"/>
              </a:rPr>
              <a:t>Plano de Análise de ARs — 5 Passos do Professor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"/>
          <p:cNvSpPr/>
          <p:nvPr/>
        </p:nvSpPr>
        <p:spPr>
          <a:xfrm>
            <a:off x="320040" y="703800"/>
            <a:ext cx="8503920" cy="360"/>
          </a:xfrm>
          <a:prstGeom prst="line">
            <a:avLst/>
          </a:prstGeom>
          <a:ln w="1764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" name="Shape 3"/>
          <p:cNvSpPr/>
          <p:nvPr/>
        </p:nvSpPr>
        <p:spPr>
          <a:xfrm>
            <a:off x="320040" y="914400"/>
            <a:ext cx="437400" cy="43740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" name="Text 4"/>
          <p:cNvSpPr/>
          <p:nvPr/>
        </p:nvSpPr>
        <p:spPr>
          <a:xfrm>
            <a:off x="320040" y="914400"/>
            <a:ext cx="4374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antarell"/>
              </a:rPr>
              <a:t>1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887040" y="905400"/>
            <a:ext cx="79081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antarell"/>
              </a:rPr>
              <a:t>Medida n do tamanho da entrada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6"/>
          <p:cNvSpPr/>
          <p:nvPr/>
        </p:nvSpPr>
        <p:spPr>
          <a:xfrm>
            <a:off x="887040" y="1161360"/>
            <a:ext cx="79081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7a9bb5"/>
                </a:solidFill>
                <a:effectLst/>
                <a:uFillTx/>
                <a:latin typeface="Cantarell"/>
                <a:ea typeface="Consolas"/>
              </a:rPr>
              <a:t>n = índice do termo Fibonacci desejado  (n ∈ ℕ, n ≥ 0)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7"/>
          <p:cNvSpPr/>
          <p:nvPr/>
        </p:nvSpPr>
        <p:spPr>
          <a:xfrm>
            <a:off x="320040" y="1710000"/>
            <a:ext cx="437400" cy="43740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" name="Text 8"/>
          <p:cNvSpPr/>
          <p:nvPr/>
        </p:nvSpPr>
        <p:spPr>
          <a:xfrm>
            <a:off x="320040" y="1710000"/>
            <a:ext cx="4374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antarell"/>
              </a:rPr>
              <a:t>2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9"/>
          <p:cNvSpPr/>
          <p:nvPr/>
        </p:nvSpPr>
        <p:spPr>
          <a:xfrm>
            <a:off x="887040" y="1700640"/>
            <a:ext cx="79081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antarell"/>
              </a:rPr>
              <a:t>Identificar a operação básica Op  (mais executada)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887040" y="1956960"/>
            <a:ext cx="79081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7a9bb5"/>
                </a:solidFill>
                <a:effectLst/>
                <a:uFillTx/>
                <a:latin typeface="Cantarell"/>
                <a:ea typeface="Consolas"/>
              </a:rPr>
              <a:t>Op = soma  (fib(n-1) + fib(n-2))  — executada em toda chamada não-base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1"/>
          <p:cNvSpPr/>
          <p:nvPr/>
        </p:nvSpPr>
        <p:spPr>
          <a:xfrm>
            <a:off x="320040" y="2505600"/>
            <a:ext cx="437400" cy="437400"/>
          </a:xfrm>
          <a:prstGeom prst="ellipse">
            <a:avLst/>
          </a:prstGeom>
          <a:solidFill>
            <a:srgbClr val="e9c4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" name="Text 12"/>
          <p:cNvSpPr/>
          <p:nvPr/>
        </p:nvSpPr>
        <p:spPr>
          <a:xfrm>
            <a:off x="320040" y="2505600"/>
            <a:ext cx="4374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antarell"/>
              </a:rPr>
              <a:t>3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3"/>
          <p:cNvSpPr/>
          <p:nvPr/>
        </p:nvSpPr>
        <p:spPr>
          <a:xfrm>
            <a:off x="887040" y="2496240"/>
            <a:ext cx="79081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antarell"/>
              </a:rPr>
              <a:t>Verificar se há pior / médio / melhor caso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4"/>
          <p:cNvSpPr/>
          <p:nvPr/>
        </p:nvSpPr>
        <p:spPr>
          <a:xfrm>
            <a:off x="887040" y="2752200"/>
            <a:ext cx="79081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7a9bb5"/>
                </a:solidFill>
                <a:effectLst/>
                <a:uFillTx/>
                <a:latin typeface="Cantarell"/>
                <a:ea typeface="Consolas"/>
              </a:rPr>
              <a:t>NÃO há variação: fib(n) executa sempre C(n) somas para qualquer entrada de tamanho n → análise única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5"/>
          <p:cNvSpPr/>
          <p:nvPr/>
        </p:nvSpPr>
        <p:spPr>
          <a:xfrm>
            <a:off x="320040" y="3300840"/>
            <a:ext cx="437400" cy="437400"/>
          </a:xfrm>
          <a:prstGeom prst="ellipse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" name="Text 16"/>
          <p:cNvSpPr/>
          <p:nvPr/>
        </p:nvSpPr>
        <p:spPr>
          <a:xfrm>
            <a:off x="320040" y="3300840"/>
            <a:ext cx="4374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antarell"/>
              </a:rPr>
              <a:t>4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887040" y="3291840"/>
            <a:ext cx="79081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antarell"/>
              </a:rPr>
              <a:t>Determinar a relação de recorrência R(n)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8"/>
          <p:cNvSpPr/>
          <p:nvPr/>
        </p:nvSpPr>
        <p:spPr>
          <a:xfrm>
            <a:off x="887040" y="3547800"/>
            <a:ext cx="79081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7a9bb5"/>
                </a:solidFill>
                <a:effectLst/>
                <a:uFillTx/>
                <a:latin typeface="Cantarell"/>
                <a:ea typeface="Consolas"/>
              </a:rPr>
              <a:t>C(n) = C(n-1) + C(n-2) + 1,   C(0) = 0,   C(1) = 0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9"/>
          <p:cNvSpPr/>
          <p:nvPr/>
        </p:nvSpPr>
        <p:spPr>
          <a:xfrm>
            <a:off x="320040" y="4096440"/>
            <a:ext cx="437400" cy="4374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0" name="Text 20"/>
          <p:cNvSpPr/>
          <p:nvPr/>
        </p:nvSpPr>
        <p:spPr>
          <a:xfrm>
            <a:off x="320040" y="4096440"/>
            <a:ext cx="4374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antarell"/>
              </a:rPr>
              <a:t>5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1"/>
          <p:cNvSpPr/>
          <p:nvPr/>
        </p:nvSpPr>
        <p:spPr>
          <a:xfrm>
            <a:off x="887040" y="4087440"/>
            <a:ext cx="79081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antarell"/>
              </a:rPr>
              <a:t>Encontrar forma fechada C(n) e classe assintótica  Θ, O ou Ω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2"/>
          <p:cNvSpPr/>
          <p:nvPr/>
        </p:nvSpPr>
        <p:spPr>
          <a:xfrm>
            <a:off x="887040" y="4343400"/>
            <a:ext cx="79081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7a9bb5"/>
                </a:solidFill>
                <a:effectLst/>
                <a:uFillTx/>
                <a:latin typeface="Cantarell"/>
                <a:ea typeface="Consolas"/>
              </a:rPr>
              <a:t>C(n) = φⁿ⁺¹ − 1  ≈  φⁿ/√5     →   Classe  Θ(φⁿ)  ≈  Θ(2ⁿ)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163080" cy="5142240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4" name="Text 1"/>
          <p:cNvSpPr/>
          <p:nvPr/>
        </p:nvSpPr>
        <p:spPr>
          <a:xfrm>
            <a:off x="320040" y="128160"/>
            <a:ext cx="850248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4a261"/>
                </a:solidFill>
                <a:effectLst/>
                <a:uFillTx/>
                <a:latin typeface="Cantarell"/>
                <a:ea typeface="Cantarell"/>
              </a:rPr>
              <a:t>Passos 1 e 2 — Medida n e Operação Básica Op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320040" y="703800"/>
            <a:ext cx="8503920" cy="360"/>
          </a:xfrm>
          <a:prstGeom prst="line">
            <a:avLst/>
          </a:prstGeom>
          <a:ln w="1764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320040" y="822960"/>
            <a:ext cx="4113360" cy="1918800"/>
          </a:xfrm>
          <a:prstGeom prst="rect">
            <a:avLst/>
          </a:prstGeom>
          <a:solidFill>
            <a:srgbClr val="1b3a5c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7" name="Shape 4"/>
          <p:cNvSpPr/>
          <p:nvPr/>
        </p:nvSpPr>
        <p:spPr>
          <a:xfrm>
            <a:off x="475560" y="887040"/>
            <a:ext cx="437400" cy="43740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8" name="Text 5"/>
          <p:cNvSpPr/>
          <p:nvPr/>
        </p:nvSpPr>
        <p:spPr>
          <a:xfrm>
            <a:off x="475560" y="887040"/>
            <a:ext cx="4374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antarell"/>
              </a:rPr>
              <a:t>1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1024200" y="887040"/>
            <a:ext cx="32904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4a261"/>
                </a:solidFill>
                <a:effectLst/>
                <a:uFillTx/>
                <a:latin typeface="Cantarell"/>
                <a:ea typeface="Cantarell"/>
              </a:rPr>
              <a:t>Medida n do tamanho da entrada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475560" y="1351080"/>
            <a:ext cx="3123360" cy="62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n  =  índice do termo Fibonacci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2a9d8f"/>
                </a:solidFill>
                <a:effectLst/>
                <a:uFillTx/>
                <a:latin typeface="Cantarell"/>
                <a:ea typeface="Cantarell"/>
              </a:rPr>
              <a:t>Exemplo:</a:t>
            </a: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  fib(10) → n = 10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a9d8f"/>
                </a:solidFill>
                <a:effectLst/>
                <a:uFillTx/>
                <a:latin typeface="Cantarell"/>
                <a:ea typeface="Cantarell"/>
              </a:rPr>
              <a:t>Domínio:</a:t>
            </a: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  n ∈ ℕ,  n ≥ 0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8"/>
          <p:cNvSpPr/>
          <p:nvPr/>
        </p:nvSpPr>
        <p:spPr>
          <a:xfrm>
            <a:off x="4663440" y="822960"/>
            <a:ext cx="4159080" cy="1918800"/>
          </a:xfrm>
          <a:prstGeom prst="rect">
            <a:avLst/>
          </a:prstGeom>
          <a:solidFill>
            <a:srgbClr val="1b3a5c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2" name="Shape 9"/>
          <p:cNvSpPr/>
          <p:nvPr/>
        </p:nvSpPr>
        <p:spPr>
          <a:xfrm>
            <a:off x="4818960" y="887040"/>
            <a:ext cx="437400" cy="43740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3" name="Text 10"/>
          <p:cNvSpPr/>
          <p:nvPr/>
        </p:nvSpPr>
        <p:spPr>
          <a:xfrm>
            <a:off x="4818960" y="887040"/>
            <a:ext cx="4374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antarell"/>
              </a:rPr>
              <a:t>2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1"/>
          <p:cNvSpPr/>
          <p:nvPr/>
        </p:nvSpPr>
        <p:spPr>
          <a:xfrm>
            <a:off x="5367600" y="887040"/>
            <a:ext cx="33361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4a261"/>
                </a:solidFill>
                <a:effectLst/>
                <a:uFillTx/>
                <a:latin typeface="Cantarell"/>
                <a:ea typeface="Cantarell"/>
              </a:rPr>
              <a:t>Operação básica Op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4818960" y="1351080"/>
            <a:ext cx="3839040" cy="14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2a9d8f"/>
                </a:solidFill>
                <a:effectLst/>
                <a:uFillTx/>
                <a:latin typeface="Cantarell"/>
                <a:ea typeface="Cantarell"/>
              </a:rPr>
              <a:t>Op  =  soma</a:t>
            </a:r>
            <a:r>
              <a:rPr lang="en-US" sz="105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  (fib(n-1) + fib(n-2))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3"/>
          <p:cNvSpPr/>
          <p:nvPr/>
        </p:nvSpPr>
        <p:spPr>
          <a:xfrm>
            <a:off x="320040" y="2880360"/>
            <a:ext cx="8502480" cy="684360"/>
          </a:xfrm>
          <a:prstGeom prst="rect">
            <a:avLst/>
          </a:prstGeom>
          <a:solidFill>
            <a:srgbClr val="023047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7" name="Text 14"/>
          <p:cNvSpPr/>
          <p:nvPr/>
        </p:nvSpPr>
        <p:spPr>
          <a:xfrm>
            <a:off x="320040" y="2880360"/>
            <a:ext cx="850248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e63946"/>
                </a:solidFill>
                <a:effectLst/>
                <a:uFillTx/>
                <a:latin typeface="Cantarell"/>
                <a:ea typeface="Consolas"/>
              </a:rPr>
              <a:t>return </a:t>
            </a:r>
            <a:r>
              <a:rPr lang="en-US" sz="1300" b="0" u="none" strike="noStrike">
                <a:solidFill>
                  <a:srgbClr val="2a9d8f"/>
                </a:solidFill>
                <a:effectLst/>
                <a:uFillTx/>
                <a:latin typeface="Cantarell"/>
                <a:ea typeface="Consolas"/>
              </a:rPr>
              <a:t>fib(n-1)</a:t>
            </a:r>
            <a:r>
              <a:rPr lang="en-US" sz="1300" b="1" u="none" strike="noStrike">
                <a:solidFill>
                  <a:srgbClr val="f4a261"/>
                </a:solidFill>
                <a:effectLst/>
                <a:uFillTx/>
                <a:latin typeface="Cantarell"/>
                <a:ea typeface="Consolas"/>
              </a:rPr>
              <a:t>  +  </a:t>
            </a:r>
            <a:r>
              <a:rPr lang="en-US" sz="1300" b="0" u="none" strike="noStrike">
                <a:solidFill>
                  <a:srgbClr val="2a9d8f"/>
                </a:solidFill>
                <a:effectLst/>
                <a:uFillTx/>
                <a:latin typeface="Cantarell"/>
                <a:ea typeface="Consolas"/>
              </a:rPr>
              <a:t>fib(n-2)</a:t>
            </a:r>
            <a:r>
              <a:rPr lang="en-US" sz="1300" b="0" u="none" strike="noStrike">
                <a:solidFill>
                  <a:srgbClr val="7a9bb5"/>
                </a:solidFill>
                <a:effectLst/>
                <a:uFillTx/>
                <a:latin typeface="Cantarell"/>
                <a:ea typeface="Consolas"/>
              </a:rPr>
              <a:t>   ← Op acontece aqui, uma vez por chamada não-base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5"/>
          <p:cNvSpPr/>
          <p:nvPr/>
        </p:nvSpPr>
        <p:spPr>
          <a:xfrm>
            <a:off x="320040" y="3657600"/>
            <a:ext cx="8502480" cy="1260360"/>
          </a:xfrm>
          <a:prstGeom prst="rect">
            <a:avLst/>
          </a:prstGeom>
          <a:solidFill>
            <a:srgbClr val="08192b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9" name="Text 16"/>
          <p:cNvSpPr/>
          <p:nvPr/>
        </p:nvSpPr>
        <p:spPr>
          <a:xfrm>
            <a:off x="448200" y="3749040"/>
            <a:ext cx="8246520" cy="10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8d8a8"/>
                </a:solidFill>
                <a:effectLst/>
                <a:uFillTx/>
                <a:latin typeface="Cantarell"/>
                <a:ea typeface="Consolas"/>
              </a:rPr>
              <a:t>def fib(n):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8d8a8"/>
                </a:solidFill>
                <a:effectLst/>
                <a:uFillTx/>
                <a:latin typeface="Cantarell"/>
                <a:ea typeface="Consolas"/>
              </a:rPr>
              <a:t>    if n &lt;= 1:          # caso base → sem soma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8d8a8"/>
                </a:solidFill>
                <a:effectLst/>
                <a:uFillTx/>
                <a:latin typeface="Cantarell"/>
                <a:ea typeface="Consolas"/>
              </a:rPr>
              <a:t>        return n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8d8a8"/>
                </a:solidFill>
                <a:effectLst/>
                <a:uFillTx/>
                <a:latin typeface="Cantarell"/>
                <a:ea typeface="Consolas"/>
              </a:rPr>
              <a:t>    return fib(n-1) + fib(n-2)   # ← Op: 1 soma aqui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0"/>
          <p:cNvSpPr/>
          <p:nvPr/>
        </p:nvSpPr>
        <p:spPr>
          <a:xfrm>
            <a:off x="0" y="0"/>
            <a:ext cx="163080" cy="5142240"/>
          </a:xfrm>
          <a:prstGeom prst="rect">
            <a:avLst/>
          </a:prstGeom>
          <a:solidFill>
            <a:srgbClr val="e9c4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1" name="Text 1"/>
          <p:cNvSpPr/>
          <p:nvPr/>
        </p:nvSpPr>
        <p:spPr>
          <a:xfrm>
            <a:off x="320040" y="128160"/>
            <a:ext cx="850248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e9c46a"/>
                </a:solidFill>
                <a:effectLst/>
                <a:uFillTx/>
                <a:latin typeface="Cantarell"/>
                <a:ea typeface="Cantarell"/>
              </a:rPr>
              <a:t>Passo 3 — Há Pior / Médio / Melhor Caso?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"/>
          <p:cNvSpPr/>
          <p:nvPr/>
        </p:nvSpPr>
        <p:spPr>
          <a:xfrm>
            <a:off x="320040" y="703800"/>
            <a:ext cx="8503920" cy="360"/>
          </a:xfrm>
          <a:prstGeom prst="line">
            <a:avLst/>
          </a:prstGeom>
          <a:ln w="1764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3" name="Shape 3"/>
          <p:cNvSpPr/>
          <p:nvPr/>
        </p:nvSpPr>
        <p:spPr>
          <a:xfrm>
            <a:off x="320040" y="822960"/>
            <a:ext cx="8502480" cy="958680"/>
          </a:xfrm>
          <a:prstGeom prst="rect">
            <a:avLst/>
          </a:prstGeom>
          <a:solidFill>
            <a:srgbClr val="023047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4" name="Shape 4"/>
          <p:cNvSpPr/>
          <p:nvPr/>
        </p:nvSpPr>
        <p:spPr>
          <a:xfrm>
            <a:off x="475560" y="887040"/>
            <a:ext cx="437400" cy="437400"/>
          </a:xfrm>
          <a:prstGeom prst="ellipse">
            <a:avLst/>
          </a:prstGeom>
          <a:solidFill>
            <a:srgbClr val="e9c4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5" name="Text 5"/>
          <p:cNvSpPr/>
          <p:nvPr/>
        </p:nvSpPr>
        <p:spPr>
          <a:xfrm>
            <a:off x="475560" y="887040"/>
            <a:ext cx="4374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antarell"/>
              </a:rPr>
              <a:t>3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1051560" y="822960"/>
            <a:ext cx="763380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e63946"/>
                </a:solidFill>
                <a:effectLst/>
                <a:uFillTx/>
                <a:latin typeface="Cantarell"/>
                <a:ea typeface="Cantarell"/>
              </a:rPr>
              <a:t>NÃO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ntarell"/>
                <a:ea typeface="Cantarell"/>
              </a:rPr>
              <a:t>  — C(n) depende apenas de n, não da estrutura interna da entrada.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320040" y="1920240"/>
            <a:ext cx="4113360" cy="2193120"/>
          </a:xfrm>
          <a:prstGeom prst="rect">
            <a:avLst/>
          </a:prstGeom>
          <a:solidFill>
            <a:srgbClr val="1b3a5c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8" name="Text 8"/>
          <p:cNvSpPr/>
          <p:nvPr/>
        </p:nvSpPr>
        <p:spPr>
          <a:xfrm>
            <a:off x="475560" y="1984320"/>
            <a:ext cx="3793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2a9d8f"/>
                </a:solidFill>
                <a:effectLst/>
                <a:uFillTx/>
                <a:latin typeface="Cantarell"/>
                <a:ea typeface="Cantarell"/>
              </a:rPr>
              <a:t>Fibonacci / Fatorial / Hanói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9"/>
          <p:cNvSpPr/>
          <p:nvPr/>
        </p:nvSpPr>
        <p:spPr>
          <a:xfrm>
            <a:off x="475560" y="2304360"/>
            <a:ext cx="379332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Dado n, o algoritmo executa sempre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exatamente C(n) operações.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Não existe fib(10) 'mais fácil'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que outro fib(10).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→ Análise única (sem casos separados)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0"/>
          <p:cNvSpPr/>
          <p:nvPr/>
        </p:nvSpPr>
        <p:spPr>
          <a:xfrm>
            <a:off x="4663440" y="1920240"/>
            <a:ext cx="4159080" cy="2193120"/>
          </a:xfrm>
          <a:prstGeom prst="rect">
            <a:avLst/>
          </a:prstGeom>
          <a:solidFill>
            <a:srgbClr val="1a1a2e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1" name="Text 11"/>
          <p:cNvSpPr/>
          <p:nvPr/>
        </p:nvSpPr>
        <p:spPr>
          <a:xfrm>
            <a:off x="4818960" y="1984320"/>
            <a:ext cx="38390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e63946"/>
                </a:solidFill>
                <a:effectLst/>
                <a:uFillTx/>
                <a:latin typeface="Cantarell"/>
                <a:ea typeface="Cantarell"/>
              </a:rPr>
              <a:t>Contra-exemplo: Busca Linear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4818960" y="2304360"/>
            <a:ext cx="383904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Array de tamanho n: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Melhor caso: elemento no meio do array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→ C</a:t>
            </a:r>
            <a:r>
              <a:rPr lang="en-US" sz="1100" b="0" u="none" strike="noStrike" baseline="-8000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min</a:t>
            </a: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(n) </a:t>
            </a: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ntarell"/>
                <a:ea typeface="Consolas"/>
              </a:rPr>
              <a:t>∈</a:t>
            </a: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 </a:t>
            </a: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ntarell"/>
                <a:ea typeface="Consolas"/>
              </a:rPr>
              <a:t>Θ</a:t>
            </a: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(1)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Pior caso: não encontrado ou no final das divisões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→ C</a:t>
            </a:r>
            <a:r>
              <a:rPr lang="en-US" sz="1100" b="0" u="none" strike="noStrike" baseline="-8000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max</a:t>
            </a: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(n) </a:t>
            </a: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ntarell"/>
                <a:ea typeface="Consolas"/>
              </a:rPr>
              <a:t>∈</a:t>
            </a: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 </a:t>
            </a: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ntarell"/>
                <a:ea typeface="Consolas"/>
              </a:rPr>
              <a:t>Θ</a:t>
            </a: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(log n)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→ Requer análise separada por caso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3"/>
          <p:cNvSpPr/>
          <p:nvPr/>
        </p:nvSpPr>
        <p:spPr>
          <a:xfrm>
            <a:off x="320040" y="4224600"/>
            <a:ext cx="8502480" cy="620280"/>
          </a:xfrm>
          <a:prstGeom prst="rect">
            <a:avLst/>
          </a:prstGeom>
          <a:solidFill>
            <a:srgbClr val="2a9d8f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4" name="Text 14"/>
          <p:cNvSpPr/>
          <p:nvPr/>
        </p:nvSpPr>
        <p:spPr>
          <a:xfrm>
            <a:off x="502920" y="4224600"/>
            <a:ext cx="831960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ntarell"/>
                <a:ea typeface="Cantarell"/>
              </a:rPr>
              <a:t>Conclusão do Passo 3: Fibonacci não exige separação de casos — avança direto ao Passo 4.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0"/>
          <p:cNvSpPr/>
          <p:nvPr/>
        </p:nvSpPr>
        <p:spPr>
          <a:xfrm>
            <a:off x="0" y="0"/>
            <a:ext cx="163080" cy="51422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6" name="Text 1"/>
          <p:cNvSpPr/>
          <p:nvPr/>
        </p:nvSpPr>
        <p:spPr>
          <a:xfrm>
            <a:off x="320040" y="128160"/>
            <a:ext cx="850248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4a261"/>
                </a:solidFill>
                <a:effectLst/>
                <a:uFillTx/>
                <a:latin typeface="Cantarell"/>
                <a:ea typeface="Cantarell"/>
              </a:rPr>
              <a:t>Passo 4 — Relação de Recorrência R(n)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2"/>
          <p:cNvSpPr/>
          <p:nvPr/>
        </p:nvSpPr>
        <p:spPr>
          <a:xfrm>
            <a:off x="320040" y="703800"/>
            <a:ext cx="8503920" cy="360"/>
          </a:xfrm>
          <a:prstGeom prst="line">
            <a:avLst/>
          </a:prstGeom>
          <a:ln w="1764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8" name="Shape 3"/>
          <p:cNvSpPr/>
          <p:nvPr/>
        </p:nvSpPr>
        <p:spPr>
          <a:xfrm>
            <a:off x="320040" y="822960"/>
            <a:ext cx="437400" cy="437400"/>
          </a:xfrm>
          <a:prstGeom prst="ellipse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9" name="Text 4"/>
          <p:cNvSpPr/>
          <p:nvPr/>
        </p:nvSpPr>
        <p:spPr>
          <a:xfrm>
            <a:off x="320040" y="822960"/>
            <a:ext cx="4374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antarell"/>
              </a:rPr>
              <a:t>4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5"/>
          <p:cNvSpPr/>
          <p:nvPr/>
        </p:nvSpPr>
        <p:spPr>
          <a:xfrm>
            <a:off x="320040" y="804600"/>
            <a:ext cx="4296240" cy="3290400"/>
          </a:xfrm>
          <a:prstGeom prst="rect">
            <a:avLst/>
          </a:prstGeom>
          <a:solidFill>
            <a:srgbClr val="0a1628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1" name="Text 6"/>
          <p:cNvSpPr/>
          <p:nvPr/>
        </p:nvSpPr>
        <p:spPr>
          <a:xfrm>
            <a:off x="475560" y="850320"/>
            <a:ext cx="39762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4a261"/>
                </a:solidFill>
                <a:effectLst/>
                <a:uFillTx/>
                <a:latin typeface="Cantarell"/>
                <a:ea typeface="Cantarell"/>
              </a:rPr>
              <a:t>Como montar R(n):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7"/>
          <p:cNvSpPr/>
          <p:nvPr/>
        </p:nvSpPr>
        <p:spPr>
          <a:xfrm>
            <a:off x="475560" y="1143000"/>
            <a:ext cx="3976200" cy="283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2a9d8f"/>
                </a:solidFill>
                <a:effectLst/>
                <a:uFillTx/>
                <a:latin typeface="Cantarell"/>
                <a:ea typeface="Cantarell"/>
              </a:rPr>
              <a:t>1. Chamada fib(n) realiza: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   • fib(n-1)  → custo C(n-1)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   • fib(n-2)  → custo C(n-2)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e9c46a"/>
                </a:solidFill>
                <a:effectLst/>
                <a:uFillTx/>
                <a:latin typeface="Cantarell"/>
                <a:ea typeface="Cantarell"/>
              </a:rPr>
              <a:t>   • 1 soma     → custo +1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2a9d8f"/>
                </a:solidFill>
                <a:effectLst/>
                <a:uFillTx/>
                <a:latin typeface="Cantarell"/>
                <a:ea typeface="Cantarell"/>
              </a:rPr>
              <a:t>2. Logo: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f4a261"/>
                </a:solidFill>
                <a:effectLst/>
                <a:uFillTx/>
                <a:latin typeface="Cantarell"/>
                <a:ea typeface="Cantarell"/>
              </a:rPr>
              <a:t>   C(n) = C(n-1) + C(n-2) + 1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2a9d8f"/>
                </a:solidFill>
                <a:effectLst/>
                <a:uFillTx/>
                <a:latin typeface="Cantarell"/>
                <a:ea typeface="Cantarell"/>
              </a:rPr>
              <a:t>3. Casos base (sem soma):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   C(0) = 0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   C(1) = 0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8"/>
          <p:cNvSpPr/>
          <p:nvPr/>
        </p:nvSpPr>
        <p:spPr>
          <a:xfrm>
            <a:off x="4773240" y="804600"/>
            <a:ext cx="4049280" cy="3290400"/>
          </a:xfrm>
          <a:prstGeom prst="rect">
            <a:avLst/>
          </a:prstGeom>
          <a:solidFill>
            <a:srgbClr val="023047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4" name="Text 9"/>
          <p:cNvSpPr/>
          <p:nvPr/>
        </p:nvSpPr>
        <p:spPr>
          <a:xfrm>
            <a:off x="4919400" y="850320"/>
            <a:ext cx="37476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4a261"/>
                </a:solidFill>
                <a:effectLst/>
                <a:uFillTx/>
                <a:latin typeface="Cantarell"/>
                <a:ea typeface="Cantarell"/>
              </a:rPr>
              <a:t>Verificação — C(n) vs fib(n):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5" name="Table 0"/>
          <p:cNvGraphicFramePr/>
          <p:nvPr/>
        </p:nvGraphicFramePr>
        <p:xfrm>
          <a:off x="4919400" y="1152000"/>
          <a:ext cx="3748680" cy="2851200"/>
        </p:xfrm>
        <a:graphic>
          <a:graphicData uri="http://schemas.openxmlformats.org/drawingml/2006/table">
            <a:tbl>
              <a:tblPr/>
              <a:tblGrid>
                <a:gridCol w="1005840"/>
                <a:gridCol w="1188720"/>
                <a:gridCol w="1554480"/>
              </a:tblGrid>
              <a:tr h="259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n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fib(n)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C(n) somas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259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df4f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0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df4f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0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9c46a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0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</a:tr>
              <a:tr h="259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df4f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1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df4f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1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9c46a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0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f2035"/>
                    </a:solidFill>
                  </a:tcPr>
                </a:tc>
              </a:tr>
              <a:tr h="259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df4f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2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df4f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1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9c46a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1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</a:tr>
              <a:tr h="259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df4f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3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df4f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2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9c46a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2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f2035"/>
                    </a:solidFill>
                  </a:tcPr>
                </a:tc>
              </a:tr>
              <a:tr h="259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df4f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4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df4f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3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9c46a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4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</a:tr>
              <a:tr h="259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df4f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5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df4f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5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9c46a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7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f2035"/>
                    </a:solidFill>
                  </a:tcPr>
                </a:tc>
              </a:tr>
              <a:tr h="259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df4f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6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df4f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8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9c46a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12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</a:tr>
              <a:tr h="259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df4f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7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df4f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13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9c46a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20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f2035"/>
                    </a:solidFill>
                  </a:tcPr>
                </a:tc>
              </a:tr>
              <a:tr h="259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df4f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8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df4f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21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9c46a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33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</a:tr>
              <a:tr h="259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df4f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10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df4f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55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e9c46a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88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f2035"/>
                    </a:solidFill>
                  </a:tcPr>
                </a:tc>
              </a:tr>
            </a:tbl>
          </a:graphicData>
        </a:graphic>
      </p:graphicFrame>
      <p:sp>
        <p:nvSpPr>
          <p:cNvPr id="96" name="Shape 10"/>
          <p:cNvSpPr/>
          <p:nvPr/>
        </p:nvSpPr>
        <p:spPr>
          <a:xfrm>
            <a:off x="320040" y="4224600"/>
            <a:ext cx="8502480" cy="684360"/>
          </a:xfrm>
          <a:prstGeom prst="rect">
            <a:avLst/>
          </a:prstGeom>
          <a:solidFill>
            <a:srgbClr val="1b3a5c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7" name="Text 11"/>
          <p:cNvSpPr/>
          <p:nvPr/>
        </p:nvSpPr>
        <p:spPr>
          <a:xfrm>
            <a:off x="320040" y="4224600"/>
            <a:ext cx="850248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4a261"/>
                </a:solidFill>
                <a:effectLst/>
                <a:uFillTx/>
                <a:latin typeface="Cantarell"/>
                <a:ea typeface="Consolas"/>
              </a:rPr>
              <a:t>C(n) = C(n-1) + C(n-2) + 1,   </a:t>
            </a:r>
            <a:r>
              <a:rPr lang="en-US" sz="1400" b="0" u="none" strike="noStrike">
                <a:solidFill>
                  <a:srgbClr val="2a9d8f"/>
                </a:solidFill>
                <a:effectLst/>
                <a:uFillTx/>
                <a:latin typeface="Cantarell"/>
                <a:ea typeface="Consolas"/>
              </a:rPr>
              <a:t>C(0) = C(1) = 0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0" y="0"/>
            <a:ext cx="163080" cy="514224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9" name="Text 1"/>
          <p:cNvSpPr/>
          <p:nvPr/>
        </p:nvSpPr>
        <p:spPr>
          <a:xfrm>
            <a:off x="320040" y="128160"/>
            <a:ext cx="850248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e63946"/>
                </a:solidFill>
                <a:effectLst/>
                <a:uFillTx/>
                <a:latin typeface="Cantarell"/>
                <a:ea typeface="Cantarell"/>
              </a:rPr>
              <a:t>Passo 5 — Por que não usar Substituições para Trás?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"/>
          <p:cNvSpPr/>
          <p:nvPr/>
        </p:nvSpPr>
        <p:spPr>
          <a:xfrm>
            <a:off x="320040" y="703800"/>
            <a:ext cx="8503920" cy="360"/>
          </a:xfrm>
          <a:prstGeom prst="line">
            <a:avLst/>
          </a:prstGeom>
          <a:ln w="1764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1" name="Shape 3"/>
          <p:cNvSpPr/>
          <p:nvPr/>
        </p:nvSpPr>
        <p:spPr>
          <a:xfrm>
            <a:off x="320040" y="804600"/>
            <a:ext cx="3930480" cy="3839040"/>
          </a:xfrm>
          <a:prstGeom prst="rect">
            <a:avLst/>
          </a:prstGeom>
          <a:solidFill>
            <a:srgbClr val="023047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2" name="Text 4"/>
          <p:cNvSpPr/>
          <p:nvPr/>
        </p:nvSpPr>
        <p:spPr>
          <a:xfrm>
            <a:off x="457200" y="850320"/>
            <a:ext cx="36561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2a9d8f"/>
                </a:solidFill>
                <a:effectLst/>
                <a:uFillTx/>
                <a:latin typeface="Cantarell"/>
                <a:ea typeface="Cantarell"/>
              </a:rPr>
              <a:t>Fatorial — FUNCIONA ✓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5"/>
          <p:cNvSpPr/>
          <p:nvPr/>
        </p:nvSpPr>
        <p:spPr>
          <a:xfrm>
            <a:off x="457200" y="1170360"/>
            <a:ext cx="3656160" cy="336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f4a261"/>
                </a:solidFill>
                <a:effectLst/>
                <a:uFillTx/>
                <a:latin typeface="Cantarell"/>
                <a:ea typeface="Consolas"/>
              </a:rPr>
              <a:t>C(n) = C(n-1) + 1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onsolas"/>
              </a:rPr>
              <a:t>→  C(n-1) + 1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onsolas"/>
              </a:rPr>
              <a:t>=  C(n-2) + 2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onsolas"/>
              </a:rPr>
              <a:t>=  C(n-3) + 3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7a9bb5"/>
                </a:solidFill>
                <a:effectLst/>
                <a:uFillTx/>
                <a:latin typeface="Cantarell"/>
                <a:ea typeface="Consolas"/>
              </a:rPr>
              <a:t>        ...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onsolas"/>
              </a:rPr>
              <a:t>=  C(n-i) + i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7a9bb5"/>
                </a:solidFill>
                <a:effectLst/>
                <a:uFillTx/>
                <a:latin typeface="Cantarell"/>
                <a:ea typeface="Consolas"/>
              </a:rPr>
              <a:t>        ...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e9c46a"/>
                </a:solidFill>
                <a:effectLst/>
                <a:uFillTx/>
                <a:latin typeface="Cantarell"/>
                <a:ea typeface="Consolas"/>
              </a:rPr>
              <a:t>=  C(0) + n  =  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a9d8f"/>
                </a:solidFill>
                <a:effectLst/>
                <a:uFillTx/>
                <a:latin typeface="Cantarell"/>
                <a:ea typeface="Consolas"/>
              </a:rPr>
              <a:t>Resultado: C(n) = n  ∈  Θ(n)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6"/>
          <p:cNvSpPr/>
          <p:nvPr/>
        </p:nvSpPr>
        <p:spPr>
          <a:xfrm>
            <a:off x="4434840" y="804600"/>
            <a:ext cx="4662000" cy="3839040"/>
          </a:xfrm>
          <a:prstGeom prst="rect">
            <a:avLst/>
          </a:prstGeom>
          <a:solidFill>
            <a:srgbClr val="1a1a2e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5" name="Text 7"/>
          <p:cNvSpPr/>
          <p:nvPr/>
        </p:nvSpPr>
        <p:spPr>
          <a:xfrm>
            <a:off x="4572000" y="850320"/>
            <a:ext cx="43876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e63946"/>
                </a:solidFill>
                <a:effectLst/>
                <a:uFillTx/>
                <a:latin typeface="Cantarell"/>
                <a:ea typeface="Cantarell"/>
              </a:rPr>
              <a:t>Fibonacci — NÃO funciona direto ✗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8"/>
          <p:cNvSpPr/>
          <p:nvPr/>
        </p:nvSpPr>
        <p:spPr>
          <a:xfrm>
            <a:off x="4572000" y="1170360"/>
            <a:ext cx="4387680" cy="336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f4a261"/>
                </a:solidFill>
                <a:effectLst/>
                <a:uFillTx/>
                <a:latin typeface="Cantarell"/>
                <a:ea typeface="Consolas"/>
              </a:rPr>
              <a:t>C(n) = C(n-1) + C(n-2) + 1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i="1" u="none" strike="noStrike">
                <a:solidFill>
                  <a:srgbClr val="7a9bb5"/>
                </a:solidFill>
                <a:effectLst/>
                <a:uFillTx/>
                <a:latin typeface="Cantarell"/>
                <a:ea typeface="Consolas"/>
              </a:rPr>
              <a:t>1ª substituição de C(n-1):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onsolas"/>
              </a:rPr>
              <a:t>= C(n-2) + C(n-3) + 1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onsolas"/>
              </a:rPr>
              <a:t>  + C(n-2) + 1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onsolas"/>
              </a:rPr>
              <a:t>= 2·C(n-2) + C(n-3) + 2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i="1" u="none" strike="noStrike">
                <a:solidFill>
                  <a:srgbClr val="7a9bb5"/>
                </a:solidFill>
                <a:effectLst/>
                <a:uFillTx/>
                <a:latin typeface="Cantarell"/>
                <a:ea typeface="Consolas"/>
              </a:rPr>
              <a:t>2ª substituição: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onsolas"/>
              </a:rPr>
              <a:t>= 3·C(n-3) + 2·C(n-4) + ...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e63946"/>
                </a:solidFill>
                <a:effectLst/>
                <a:uFillTx/>
                <a:latin typeface="Cantarell"/>
                <a:ea typeface="Consolas"/>
              </a:rPr>
              <a:t>Termos AUMENTAM a cada passo!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e63946"/>
                </a:solidFill>
                <a:effectLst/>
                <a:uFillTx/>
                <a:latin typeface="Cantarell"/>
                <a:ea typeface="Consolas"/>
              </a:rPr>
              <a:t>→ impossível somar diretamente.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e9c46a"/>
                </a:solidFill>
                <a:effectLst/>
                <a:uFillTx/>
                <a:latin typeface="Cantarell"/>
                <a:ea typeface="Consolas"/>
              </a:rPr>
              <a:t>Solução: Equação Característica →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0"/>
          <p:cNvSpPr/>
          <p:nvPr/>
        </p:nvSpPr>
        <p:spPr>
          <a:xfrm>
            <a:off x="0" y="0"/>
            <a:ext cx="163080" cy="514224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8" name="Text 1"/>
          <p:cNvSpPr/>
          <p:nvPr/>
        </p:nvSpPr>
        <p:spPr>
          <a:xfrm>
            <a:off x="320040" y="128160"/>
            <a:ext cx="850248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e63946"/>
                </a:solidFill>
                <a:effectLst/>
                <a:uFillTx/>
                <a:latin typeface="Cantarell"/>
                <a:ea typeface="Cantarell"/>
              </a:rPr>
              <a:t>Passo 5 — Equação Característica (Passo a Passo)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"/>
          <p:cNvSpPr/>
          <p:nvPr/>
        </p:nvSpPr>
        <p:spPr>
          <a:xfrm>
            <a:off x="320040" y="703800"/>
            <a:ext cx="8503920" cy="360"/>
          </a:xfrm>
          <a:prstGeom prst="line">
            <a:avLst/>
          </a:prstGeom>
          <a:ln w="1764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0" name="Shape 3"/>
          <p:cNvSpPr/>
          <p:nvPr/>
        </p:nvSpPr>
        <p:spPr>
          <a:xfrm>
            <a:off x="320040" y="804600"/>
            <a:ext cx="4204800" cy="1260360"/>
          </a:xfrm>
          <a:prstGeom prst="rect">
            <a:avLst/>
          </a:prstGeom>
          <a:solidFill>
            <a:srgbClr val="023047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457200" y="868680"/>
            <a:ext cx="39304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2a9d8f"/>
                </a:solidFill>
                <a:effectLst/>
                <a:uFillTx/>
                <a:latin typeface="Cantarell"/>
                <a:ea typeface="Cantarell"/>
              </a:rPr>
              <a:t>①  Recorrência homogênea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5"/>
          <p:cNvSpPr/>
          <p:nvPr/>
        </p:nvSpPr>
        <p:spPr>
          <a:xfrm>
            <a:off x="457200" y="1188720"/>
            <a:ext cx="3930480" cy="8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onsolas"/>
              </a:rPr>
              <a:t>Ignorar a/o +1 (cte./particular) → rⁿ = rⁿ⁻¹ + rⁿ⁻²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6"/>
          <p:cNvSpPr/>
          <p:nvPr/>
        </p:nvSpPr>
        <p:spPr>
          <a:xfrm>
            <a:off x="320040" y="2194560"/>
            <a:ext cx="4204800" cy="1260360"/>
          </a:xfrm>
          <a:prstGeom prst="rect">
            <a:avLst/>
          </a:prstGeom>
          <a:solidFill>
            <a:srgbClr val="023047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457200" y="2258640"/>
            <a:ext cx="39304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2a9d8f"/>
                </a:solidFill>
                <a:effectLst/>
                <a:uFillTx/>
                <a:latin typeface="Cantarell"/>
                <a:ea typeface="Cantarell"/>
              </a:rPr>
              <a:t>②  Dividir por rⁿ⁻²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8"/>
          <p:cNvSpPr/>
          <p:nvPr/>
        </p:nvSpPr>
        <p:spPr>
          <a:xfrm>
            <a:off x="457200" y="2578680"/>
            <a:ext cx="3930480" cy="8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onsolas"/>
              </a:rPr>
              <a:t>r² = r + 1   →   r² − r − 1 = 0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9"/>
          <p:cNvSpPr/>
          <p:nvPr/>
        </p:nvSpPr>
        <p:spPr>
          <a:xfrm>
            <a:off x="320040" y="3584520"/>
            <a:ext cx="4204800" cy="1260360"/>
          </a:xfrm>
          <a:prstGeom prst="rect">
            <a:avLst/>
          </a:prstGeom>
          <a:solidFill>
            <a:srgbClr val="023047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7" name="Text 10"/>
          <p:cNvSpPr/>
          <p:nvPr/>
        </p:nvSpPr>
        <p:spPr>
          <a:xfrm>
            <a:off x="457200" y="3648600"/>
            <a:ext cx="39304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4a261"/>
                </a:solidFill>
                <a:effectLst/>
                <a:uFillTx/>
                <a:latin typeface="Cantarell"/>
                <a:ea typeface="Cantarell"/>
              </a:rPr>
              <a:t>③  Raízes da equação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1"/>
          <p:cNvSpPr/>
          <p:nvPr/>
        </p:nvSpPr>
        <p:spPr>
          <a:xfrm>
            <a:off x="457200" y="3968640"/>
            <a:ext cx="3930480" cy="8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onsolas"/>
              </a:rPr>
              <a:t>r = (1 ± √5) / 2   →   r₁ = φ ≈ 1,618  (razão áurea)   r₂ = ψ ≈ −0,618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2"/>
          <p:cNvSpPr/>
          <p:nvPr/>
        </p:nvSpPr>
        <p:spPr>
          <a:xfrm>
            <a:off x="4709160" y="804600"/>
            <a:ext cx="4204800" cy="1260360"/>
          </a:xfrm>
          <a:prstGeom prst="rect">
            <a:avLst/>
          </a:prstGeom>
          <a:solidFill>
            <a:srgbClr val="0f2035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0" name="Text 13"/>
          <p:cNvSpPr/>
          <p:nvPr/>
        </p:nvSpPr>
        <p:spPr>
          <a:xfrm>
            <a:off x="4846320" y="868680"/>
            <a:ext cx="39304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e9c46a"/>
                </a:solidFill>
                <a:effectLst/>
                <a:uFillTx/>
                <a:latin typeface="Cantarell"/>
                <a:ea typeface="Cantarell"/>
              </a:rPr>
              <a:t>④  Solução geral + particular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4"/>
          <p:cNvSpPr/>
          <p:nvPr/>
        </p:nvSpPr>
        <p:spPr>
          <a:xfrm>
            <a:off x="4846320" y="1188720"/>
            <a:ext cx="3930480" cy="8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onsolas"/>
              </a:rPr>
              <a:t>C(n) = A·φⁿ + B·ψⁿ + particular  (para +1 constante, particular = −1)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5"/>
          <p:cNvSpPr/>
          <p:nvPr/>
        </p:nvSpPr>
        <p:spPr>
          <a:xfrm>
            <a:off x="4709160" y="2194560"/>
            <a:ext cx="4204800" cy="1260360"/>
          </a:xfrm>
          <a:prstGeom prst="rect">
            <a:avLst/>
          </a:prstGeom>
          <a:solidFill>
            <a:srgbClr val="0f2035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3" name="Text 16"/>
          <p:cNvSpPr/>
          <p:nvPr/>
        </p:nvSpPr>
        <p:spPr>
          <a:xfrm>
            <a:off x="4846320" y="2258640"/>
            <a:ext cx="39304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e9c46a"/>
                </a:solidFill>
                <a:effectLst/>
                <a:uFillTx/>
                <a:latin typeface="Cantarell"/>
                <a:ea typeface="Cantarell"/>
              </a:rPr>
              <a:t>⑤  Como |ψ| &lt; 1, ψⁿ → 0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7"/>
          <p:cNvSpPr/>
          <p:nvPr/>
        </p:nvSpPr>
        <p:spPr>
          <a:xfrm>
            <a:off x="4846320" y="2578680"/>
            <a:ext cx="3930480" cy="8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onsolas"/>
              </a:rPr>
              <a:t>O termo B·ψⁿ tende a zero — não domina a expressão assintoticamente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8"/>
          <p:cNvSpPr/>
          <p:nvPr/>
        </p:nvSpPr>
        <p:spPr>
          <a:xfrm>
            <a:off x="4709160" y="3584520"/>
            <a:ext cx="4204800" cy="1260360"/>
          </a:xfrm>
          <a:prstGeom prst="rect">
            <a:avLst/>
          </a:prstGeom>
          <a:solidFill>
            <a:srgbClr val="0f2035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6" name="Text 19"/>
          <p:cNvSpPr/>
          <p:nvPr/>
        </p:nvSpPr>
        <p:spPr>
          <a:xfrm>
            <a:off x="4846320" y="3648600"/>
            <a:ext cx="39304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e63946"/>
                </a:solidFill>
                <a:effectLst/>
                <a:uFillTx/>
                <a:latin typeface="Cantarell"/>
                <a:ea typeface="Cantarell"/>
              </a:rPr>
              <a:t>⑥  Forma fechada e classe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0"/>
          <p:cNvSpPr/>
          <p:nvPr/>
        </p:nvSpPr>
        <p:spPr>
          <a:xfrm>
            <a:off x="4846320" y="3968640"/>
            <a:ext cx="3930480" cy="8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onsolas"/>
              </a:rPr>
              <a:t>C(n) = φⁿ⁺¹ − 1  ≈  φⁿ / √5     →   C(n) ∈  Θ(φⁿ)  ≈  Θ(2ⁿ)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0"/>
          <p:cNvSpPr/>
          <p:nvPr/>
        </p:nvSpPr>
        <p:spPr>
          <a:xfrm>
            <a:off x="0" y="0"/>
            <a:ext cx="163080" cy="514224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9" name="Text 1"/>
          <p:cNvSpPr/>
          <p:nvPr/>
        </p:nvSpPr>
        <p:spPr>
          <a:xfrm>
            <a:off x="320040" y="128160"/>
            <a:ext cx="850248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e63946"/>
                </a:solidFill>
                <a:effectLst/>
                <a:uFillTx/>
                <a:latin typeface="Cantarell"/>
                <a:ea typeface="Cantarell"/>
              </a:rPr>
              <a:t>Árvore de Chamadas — fib(5)  (subproblemas repetidos)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"/>
          <p:cNvSpPr/>
          <p:nvPr/>
        </p:nvSpPr>
        <p:spPr>
          <a:xfrm>
            <a:off x="320040" y="703800"/>
            <a:ext cx="8503920" cy="360"/>
          </a:xfrm>
          <a:prstGeom prst="line">
            <a:avLst/>
          </a:prstGeom>
          <a:ln w="1764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31" name=""/>
          <p:cNvPicPr/>
          <p:nvPr/>
        </p:nvPicPr>
        <p:blipFill>
          <a:blip r:embed="rId1"/>
          <a:stretch/>
        </p:blipFill>
        <p:spPr>
          <a:xfrm>
            <a:off x="681480" y="808920"/>
            <a:ext cx="7741800" cy="4278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0" y="0"/>
            <a:ext cx="163080" cy="51422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320040" y="128160"/>
            <a:ext cx="850248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4a261"/>
                </a:solidFill>
                <a:effectLst/>
                <a:uFillTx/>
                <a:latin typeface="Cantarell"/>
                <a:ea typeface="Cantarell"/>
              </a:rPr>
              <a:t>Confirmação Empírica — Número de Operações C(n)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"/>
          <p:cNvSpPr/>
          <p:nvPr/>
        </p:nvSpPr>
        <p:spPr>
          <a:xfrm>
            <a:off x="320040" y="703800"/>
            <a:ext cx="8503920" cy="360"/>
          </a:xfrm>
          <a:prstGeom prst="line">
            <a:avLst/>
          </a:prstGeom>
          <a:ln w="1764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35" name=""/>
          <p:cNvPicPr/>
          <p:nvPr/>
        </p:nvPicPr>
        <p:blipFill>
          <a:blip r:embed="rId1"/>
          <a:stretch/>
        </p:blipFill>
        <p:spPr>
          <a:xfrm>
            <a:off x="1140480" y="792000"/>
            <a:ext cx="6828120" cy="4232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0"/>
          <p:cNvSpPr/>
          <p:nvPr/>
        </p:nvSpPr>
        <p:spPr>
          <a:xfrm>
            <a:off x="0" y="0"/>
            <a:ext cx="163080" cy="5142240"/>
          </a:xfrm>
          <a:prstGeom prst="rect">
            <a:avLst/>
          </a:prstGeom>
          <a:solidFill>
            <a:srgbClr val="7a9b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320040" y="128160"/>
            <a:ext cx="850248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Tempo de Execução Real — Três Abordagens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"/>
          <p:cNvSpPr/>
          <p:nvPr/>
        </p:nvSpPr>
        <p:spPr>
          <a:xfrm>
            <a:off x="320040" y="703800"/>
            <a:ext cx="8503920" cy="360"/>
          </a:xfrm>
          <a:prstGeom prst="line">
            <a:avLst/>
          </a:prstGeom>
          <a:ln w="1764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39" name=""/>
          <p:cNvPicPr/>
          <p:nvPr/>
        </p:nvPicPr>
        <p:blipFill>
          <a:blip r:embed="rId1"/>
          <a:stretch/>
        </p:blipFill>
        <p:spPr>
          <a:xfrm>
            <a:off x="288000" y="921240"/>
            <a:ext cx="8600400" cy="3423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>
            <a:off x="0" y="0"/>
            <a:ext cx="163080" cy="51422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320040" y="128160"/>
            <a:ext cx="850248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4a261"/>
                </a:solidFill>
                <a:effectLst/>
                <a:uFillTx/>
                <a:latin typeface="Cantarell"/>
                <a:ea typeface="Cantarell"/>
              </a:rPr>
              <a:t>Tabela de Valores — C(n) vs φⁿ/√5  (validando a forma fechada)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2"/>
          <p:cNvSpPr/>
          <p:nvPr/>
        </p:nvSpPr>
        <p:spPr>
          <a:xfrm>
            <a:off x="320040" y="811800"/>
            <a:ext cx="8503920" cy="360"/>
          </a:xfrm>
          <a:prstGeom prst="line">
            <a:avLst/>
          </a:prstGeom>
          <a:ln w="1764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3" name="Shape 3"/>
          <p:cNvSpPr/>
          <p:nvPr/>
        </p:nvSpPr>
        <p:spPr>
          <a:xfrm>
            <a:off x="320040" y="4800600"/>
            <a:ext cx="8502480" cy="181440"/>
          </a:xfrm>
          <a:prstGeom prst="rect">
            <a:avLst/>
          </a:prstGeom>
          <a:solidFill>
            <a:srgbClr val="1b3a5c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4" name="Text 4"/>
          <p:cNvSpPr/>
          <p:nvPr/>
        </p:nvSpPr>
        <p:spPr>
          <a:xfrm>
            <a:off x="320040" y="4773240"/>
            <a:ext cx="85024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4a261"/>
                </a:solidFill>
                <a:effectLst/>
                <a:uFillTx/>
                <a:latin typeface="Consolas"/>
                <a:ea typeface="Consolas"/>
              </a:rPr>
              <a:t>C(n) ≈ φⁿ/√5  confirma empiricamente que a recorrência cresce como a razão áurea — validação do Passo 5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5" name=""/>
          <p:cNvPicPr/>
          <p:nvPr/>
        </p:nvPicPr>
        <p:blipFill>
          <a:blip r:embed="rId1"/>
          <a:stretch/>
        </p:blipFill>
        <p:spPr>
          <a:xfrm>
            <a:off x="573480" y="867240"/>
            <a:ext cx="8101800" cy="3886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0"/>
          <p:cNvSpPr/>
          <p:nvPr/>
        </p:nvSpPr>
        <p:spPr>
          <a:xfrm>
            <a:off x="0" y="0"/>
            <a:ext cx="163080" cy="5142240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320040" y="128160"/>
            <a:ext cx="850248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4a261"/>
                </a:solidFill>
                <a:effectLst/>
                <a:uFillTx/>
                <a:latin typeface="Cantarell"/>
                <a:ea typeface="Cantarell"/>
              </a:rPr>
              <a:t>Comparação de Desempenho — Recursivo · Memoização · Iterativo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"/>
          <p:cNvSpPr/>
          <p:nvPr/>
        </p:nvSpPr>
        <p:spPr>
          <a:xfrm>
            <a:off x="320040" y="703800"/>
            <a:ext cx="8503920" cy="360"/>
          </a:xfrm>
          <a:prstGeom prst="line">
            <a:avLst/>
          </a:prstGeom>
          <a:ln w="1764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49" name=""/>
          <p:cNvPicPr/>
          <p:nvPr/>
        </p:nvPicPr>
        <p:blipFill>
          <a:blip r:embed="rId1"/>
          <a:stretch/>
        </p:blipFill>
        <p:spPr>
          <a:xfrm>
            <a:off x="396000" y="1026000"/>
            <a:ext cx="8420400" cy="3357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0"/>
          <p:cNvSpPr/>
          <p:nvPr/>
        </p:nvSpPr>
        <p:spPr>
          <a:xfrm>
            <a:off x="0" y="0"/>
            <a:ext cx="163080" cy="5142240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320040" y="128160"/>
            <a:ext cx="850248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4a261"/>
                </a:solidFill>
                <a:effectLst/>
                <a:uFillTx/>
                <a:latin typeface="Cantarell"/>
                <a:ea typeface="Cantarell"/>
              </a:rPr>
              <a:t>Abordagem 2 — Memoização (Top-Down)  Θ(n)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320040" y="703800"/>
            <a:ext cx="8503920" cy="360"/>
          </a:xfrm>
          <a:prstGeom prst="line">
            <a:avLst/>
          </a:prstGeom>
          <a:ln w="1764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3" name="Text 4"/>
          <p:cNvSpPr/>
          <p:nvPr/>
        </p:nvSpPr>
        <p:spPr>
          <a:xfrm>
            <a:off x="216000" y="900000"/>
            <a:ext cx="6658920" cy="240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a8d8a8"/>
                </a:solidFill>
                <a:effectLst/>
                <a:uFillTx/>
                <a:latin typeface="Cantarell"/>
                <a:ea typeface="Consolas"/>
              </a:rPr>
              <a:t>def fib_memo(n, memo=None):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a8d8a8"/>
                </a:solidFill>
                <a:effectLst/>
                <a:uFillTx/>
                <a:latin typeface="Cantarell"/>
                <a:ea typeface="Consolas"/>
              </a:rPr>
              <a:t>    if memo is None: memo = {}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a8d8a8"/>
                </a:solidFill>
                <a:effectLst/>
                <a:uFillTx/>
                <a:latin typeface="Cantarell"/>
                <a:ea typeface="Consolas"/>
              </a:rPr>
              <a:t>    if n &lt;= 1: return n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a8d8a8"/>
                </a:solidFill>
                <a:effectLst/>
                <a:uFillTx/>
                <a:latin typeface="Cantarell"/>
                <a:ea typeface="Consolas"/>
              </a:rPr>
              <a:t>    if n in memo: return memo[n]   # cache hit → sem nova soma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a8d8a8"/>
                </a:solidFill>
                <a:effectLst/>
                <a:uFillTx/>
                <a:latin typeface="Cantarell"/>
                <a:ea typeface="Consolas"/>
              </a:rPr>
              <a:t>    memo[n] = fib_memo(n-1, memo) + fib_memo(n-2, memo)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a8d8a8"/>
                </a:solidFill>
                <a:effectLst/>
                <a:uFillTx/>
                <a:latin typeface="Cantarell"/>
                <a:ea typeface="Consolas"/>
              </a:rPr>
              <a:t>    return memo[n]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5"/>
          <p:cNvSpPr/>
          <p:nvPr/>
        </p:nvSpPr>
        <p:spPr>
          <a:xfrm>
            <a:off x="5120640" y="804600"/>
            <a:ext cx="3701880" cy="711720"/>
          </a:xfrm>
          <a:prstGeom prst="rect">
            <a:avLst/>
          </a:prstGeom>
          <a:solidFill>
            <a:srgbClr val="023047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5" name="Text 6"/>
          <p:cNvSpPr/>
          <p:nvPr/>
        </p:nvSpPr>
        <p:spPr>
          <a:xfrm>
            <a:off x="5257800" y="850320"/>
            <a:ext cx="3427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a9d8f"/>
                </a:solidFill>
                <a:effectLst/>
                <a:uFillTx/>
                <a:latin typeface="Cantarell"/>
                <a:ea typeface="Cantarell"/>
              </a:rPr>
              <a:t>Operações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7"/>
          <p:cNvSpPr/>
          <p:nvPr/>
        </p:nvSpPr>
        <p:spPr>
          <a:xfrm>
            <a:off x="5257800" y="1115640"/>
            <a:ext cx="3427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edf4f7"/>
                </a:solidFill>
                <a:effectLst/>
                <a:uFillTx/>
                <a:latin typeface="Consolas"/>
                <a:ea typeface="Consolas"/>
              </a:rPr>
              <a:t>Cada subproblema resolvido 1×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edf4f7"/>
                </a:solidFill>
                <a:effectLst/>
                <a:uFillTx/>
                <a:latin typeface="Consolas"/>
                <a:ea typeface="Consolas"/>
              </a:rPr>
              <a:t>C(n) = n − 1  somas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8"/>
          <p:cNvSpPr/>
          <p:nvPr/>
        </p:nvSpPr>
        <p:spPr>
          <a:xfrm>
            <a:off x="5120640" y="1627560"/>
            <a:ext cx="3701880" cy="711720"/>
          </a:xfrm>
          <a:prstGeom prst="rect">
            <a:avLst/>
          </a:prstGeom>
          <a:solidFill>
            <a:srgbClr val="023047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8" name="Text 9"/>
          <p:cNvSpPr/>
          <p:nvPr/>
        </p:nvSpPr>
        <p:spPr>
          <a:xfrm>
            <a:off x="5257800" y="1673280"/>
            <a:ext cx="3427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a9d8f"/>
                </a:solidFill>
                <a:effectLst/>
                <a:uFillTx/>
                <a:latin typeface="Cantarell"/>
                <a:ea typeface="Cantarell"/>
              </a:rPr>
              <a:t>Complexidade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0"/>
          <p:cNvSpPr/>
          <p:nvPr/>
        </p:nvSpPr>
        <p:spPr>
          <a:xfrm>
            <a:off x="5257800" y="1938600"/>
            <a:ext cx="3427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edf4f7"/>
                </a:solidFill>
                <a:effectLst/>
                <a:uFillTx/>
                <a:latin typeface="Consolas"/>
                <a:ea typeface="Consolas"/>
              </a:rPr>
              <a:t>Tempo: Θ(n)   Espaço: Θ(n)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1"/>
          <p:cNvSpPr/>
          <p:nvPr/>
        </p:nvSpPr>
        <p:spPr>
          <a:xfrm>
            <a:off x="5120640" y="2450520"/>
            <a:ext cx="3701880" cy="711720"/>
          </a:xfrm>
          <a:prstGeom prst="rect">
            <a:avLst/>
          </a:prstGeom>
          <a:solidFill>
            <a:srgbClr val="023047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1" name="Text 12"/>
          <p:cNvSpPr/>
          <p:nvPr/>
        </p:nvSpPr>
        <p:spPr>
          <a:xfrm>
            <a:off x="5257800" y="2496240"/>
            <a:ext cx="3427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e9c46a"/>
                </a:solidFill>
                <a:effectLst/>
                <a:uFillTx/>
                <a:latin typeface="Cantarell"/>
                <a:ea typeface="Cantarell"/>
              </a:rPr>
              <a:t>Vs Recursivo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3"/>
          <p:cNvSpPr/>
          <p:nvPr/>
        </p:nvSpPr>
        <p:spPr>
          <a:xfrm>
            <a:off x="5257800" y="2761560"/>
            <a:ext cx="3427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edf4f7"/>
                </a:solidFill>
                <a:effectLst/>
                <a:uFillTx/>
                <a:latin typeface="Consolas"/>
                <a:ea typeface="Consolas"/>
              </a:rPr>
              <a:t>fib(30): 832.040 vs 29 somas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4"/>
          <p:cNvSpPr/>
          <p:nvPr/>
        </p:nvSpPr>
        <p:spPr>
          <a:xfrm>
            <a:off x="5120640" y="3273480"/>
            <a:ext cx="3701880" cy="711720"/>
          </a:xfrm>
          <a:prstGeom prst="rect">
            <a:avLst/>
          </a:prstGeom>
          <a:solidFill>
            <a:srgbClr val="2a9d8f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4" name="Text 15"/>
          <p:cNvSpPr/>
          <p:nvPr/>
        </p:nvSpPr>
        <p:spPr>
          <a:xfrm>
            <a:off x="5257800" y="3319200"/>
            <a:ext cx="3427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4a261"/>
                </a:solidFill>
                <a:effectLst/>
                <a:uFillTx/>
                <a:latin typeface="Cantarell"/>
                <a:ea typeface="Cantarell"/>
              </a:rPr>
              <a:t>Melhoria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6"/>
          <p:cNvSpPr/>
          <p:nvPr/>
        </p:nvSpPr>
        <p:spPr>
          <a:xfrm>
            <a:off x="5257800" y="3584520"/>
            <a:ext cx="3427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onsolas"/>
                <a:ea typeface="Consolas"/>
              </a:rPr>
              <a:t>De Θ(φⁿ) → Θ(n)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onsolas"/>
                <a:ea typeface="Consolas"/>
              </a:rPr>
              <a:t>exponencial → linear  ✓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7"/>
          <p:cNvSpPr/>
          <p:nvPr/>
        </p:nvSpPr>
        <p:spPr>
          <a:xfrm>
            <a:off x="320040" y="4074840"/>
            <a:ext cx="8502480" cy="620280"/>
          </a:xfrm>
          <a:prstGeom prst="rect">
            <a:avLst/>
          </a:prstGeom>
          <a:solidFill>
            <a:srgbClr val="2a9d8f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7" name="Text 18"/>
          <p:cNvSpPr/>
          <p:nvPr/>
        </p:nvSpPr>
        <p:spPr>
          <a:xfrm>
            <a:off x="502920" y="4074840"/>
            <a:ext cx="831960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ntarell"/>
                <a:ea typeface="Cantarell"/>
              </a:rPr>
              <a:t>Memoização = PD Top-Down — elimina chamadas duplicadas sem eliminar a recursão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21"/>
          <p:cNvSpPr/>
          <p:nvPr/>
        </p:nvSpPr>
        <p:spPr>
          <a:xfrm>
            <a:off x="0" y="0"/>
            <a:ext cx="163080" cy="514224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9" name="Text 23"/>
          <p:cNvSpPr/>
          <p:nvPr/>
        </p:nvSpPr>
        <p:spPr>
          <a:xfrm>
            <a:off x="320040" y="128160"/>
            <a:ext cx="850248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Abordagem 3 — Iterativo (Bottom-Up)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2"/>
          <p:cNvSpPr/>
          <p:nvPr/>
        </p:nvSpPr>
        <p:spPr>
          <a:xfrm>
            <a:off x="320040" y="703800"/>
            <a:ext cx="8503920" cy="360"/>
          </a:xfrm>
          <a:prstGeom prst="line">
            <a:avLst/>
          </a:prstGeom>
          <a:ln w="1764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1" name="Shape 23"/>
          <p:cNvSpPr/>
          <p:nvPr/>
        </p:nvSpPr>
        <p:spPr>
          <a:xfrm>
            <a:off x="320040" y="804600"/>
            <a:ext cx="5073480" cy="2101680"/>
          </a:xfrm>
          <a:prstGeom prst="rect">
            <a:avLst/>
          </a:prstGeom>
          <a:solidFill>
            <a:srgbClr val="08192b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2" name="Text 24"/>
          <p:cNvSpPr/>
          <p:nvPr/>
        </p:nvSpPr>
        <p:spPr>
          <a:xfrm>
            <a:off x="457200" y="850320"/>
            <a:ext cx="4799160" cy="19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a8d8a8"/>
                </a:solidFill>
                <a:effectLst/>
                <a:uFillTx/>
                <a:latin typeface="Cantarell"/>
                <a:ea typeface="Consolas"/>
              </a:rPr>
              <a:t>def fib_iterativo(n: int) -&gt; int: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a8d8a8"/>
                </a:solidFill>
                <a:effectLst/>
                <a:uFillTx/>
                <a:latin typeface="Cantarell"/>
                <a:ea typeface="Consolas"/>
              </a:rPr>
              <a:t>    """Θ(n) tempo,  Θ(1) espaço."""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a8d8a8"/>
                </a:solidFill>
                <a:effectLst/>
                <a:uFillTx/>
                <a:latin typeface="Cantarell"/>
                <a:ea typeface="Consolas"/>
              </a:rPr>
              <a:t>    if n &lt;= 1: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a8d8a8"/>
                </a:solidFill>
                <a:effectLst/>
                <a:uFillTx/>
                <a:latin typeface="Cantarell"/>
                <a:ea typeface="Consolas"/>
              </a:rPr>
              <a:t>        return n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a8d8a8"/>
                </a:solidFill>
                <a:effectLst/>
                <a:uFillTx/>
                <a:latin typeface="Cantarell"/>
                <a:ea typeface="Consolas"/>
              </a:rPr>
              <a:t>    a, b = 0, 1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a8d8a8"/>
                </a:solidFill>
                <a:effectLst/>
                <a:uFillTx/>
                <a:latin typeface="Cantarell"/>
                <a:ea typeface="Consolas"/>
              </a:rPr>
              <a:t>    for _ in range(2, n + 1):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a8d8a8"/>
                </a:solidFill>
                <a:effectLst/>
                <a:uFillTx/>
                <a:latin typeface="Cantarell"/>
                <a:ea typeface="Consolas"/>
              </a:rPr>
              <a:t>        a, b = b, a + b   # ← Op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a8d8a8"/>
                </a:solidFill>
                <a:effectLst/>
                <a:uFillTx/>
                <a:latin typeface="Cantarell"/>
                <a:ea typeface="Consolas"/>
              </a:rPr>
              <a:t>    return b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4"/>
          <p:cNvSpPr/>
          <p:nvPr/>
        </p:nvSpPr>
        <p:spPr>
          <a:xfrm>
            <a:off x="5559480" y="804600"/>
            <a:ext cx="3263040" cy="657000"/>
          </a:xfrm>
          <a:prstGeom prst="rect">
            <a:avLst/>
          </a:prstGeom>
          <a:solidFill>
            <a:srgbClr val="023047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4" name="Text 25"/>
          <p:cNvSpPr/>
          <p:nvPr/>
        </p:nvSpPr>
        <p:spPr>
          <a:xfrm>
            <a:off x="5687640" y="850320"/>
            <a:ext cx="30160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2a9d8f"/>
                </a:solidFill>
                <a:effectLst/>
                <a:uFillTx/>
                <a:latin typeface="Cantarell"/>
                <a:ea typeface="Cantarell"/>
              </a:rPr>
              <a:t>Operações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6"/>
          <p:cNvSpPr/>
          <p:nvPr/>
        </p:nvSpPr>
        <p:spPr>
          <a:xfrm>
            <a:off x="5687640" y="1078920"/>
            <a:ext cx="30160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onsolas"/>
              </a:rPr>
              <a:t>n − 1 somas no total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onsolas"/>
              </a:rPr>
              <a:t>(uma por iteração do laço)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5"/>
          <p:cNvSpPr/>
          <p:nvPr/>
        </p:nvSpPr>
        <p:spPr>
          <a:xfrm>
            <a:off x="5559480" y="1554480"/>
            <a:ext cx="3263040" cy="657000"/>
          </a:xfrm>
          <a:prstGeom prst="rect">
            <a:avLst/>
          </a:prstGeom>
          <a:solidFill>
            <a:srgbClr val="023047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7" name="Text 27"/>
          <p:cNvSpPr/>
          <p:nvPr/>
        </p:nvSpPr>
        <p:spPr>
          <a:xfrm>
            <a:off x="5687640" y="1600200"/>
            <a:ext cx="30160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2a9d8f"/>
                </a:solidFill>
                <a:effectLst/>
                <a:uFillTx/>
                <a:latin typeface="Cantarell"/>
                <a:ea typeface="Cantarell"/>
              </a:rPr>
              <a:t>Complexidade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8"/>
          <p:cNvSpPr/>
          <p:nvPr/>
        </p:nvSpPr>
        <p:spPr>
          <a:xfrm>
            <a:off x="5687640" y="1828800"/>
            <a:ext cx="30160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onsolas"/>
              </a:rPr>
              <a:t>Tempo:   Θ(n)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onsolas"/>
              </a:rPr>
              <a:t>Espaço:  Θ(1)  — só duas variáveis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6"/>
          <p:cNvSpPr/>
          <p:nvPr/>
        </p:nvSpPr>
        <p:spPr>
          <a:xfrm>
            <a:off x="5559480" y="2304360"/>
            <a:ext cx="3263040" cy="657000"/>
          </a:xfrm>
          <a:prstGeom prst="rect">
            <a:avLst/>
          </a:prstGeom>
          <a:solidFill>
            <a:srgbClr val="023047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0" name="Text 29"/>
          <p:cNvSpPr/>
          <p:nvPr/>
        </p:nvSpPr>
        <p:spPr>
          <a:xfrm>
            <a:off x="5687640" y="2350080"/>
            <a:ext cx="30160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e9c46a"/>
                </a:solidFill>
                <a:effectLst/>
                <a:uFillTx/>
                <a:latin typeface="Cantarell"/>
                <a:ea typeface="Cantarell"/>
              </a:rPr>
              <a:t>Diferença chave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0"/>
          <p:cNvSpPr/>
          <p:nvPr/>
        </p:nvSpPr>
        <p:spPr>
          <a:xfrm>
            <a:off x="5687640" y="2578680"/>
            <a:ext cx="30160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onsolas"/>
              </a:rPr>
              <a:t>Sem pilha de recursão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onsolas"/>
              </a:rPr>
              <a:t>→ nunca estoura a stack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7"/>
          <p:cNvSpPr/>
          <p:nvPr/>
        </p:nvSpPr>
        <p:spPr>
          <a:xfrm>
            <a:off x="5559480" y="3054240"/>
            <a:ext cx="3263040" cy="657000"/>
          </a:xfrm>
          <a:prstGeom prst="rect">
            <a:avLst/>
          </a:prstGeom>
          <a:solidFill>
            <a:srgbClr val="023047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3" name="Text 31"/>
          <p:cNvSpPr/>
          <p:nvPr/>
        </p:nvSpPr>
        <p:spPr>
          <a:xfrm>
            <a:off x="5687640" y="3099960"/>
            <a:ext cx="30160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4a261"/>
                </a:solidFill>
                <a:effectLst/>
                <a:uFillTx/>
                <a:latin typeface="Cantarell"/>
                <a:ea typeface="Cantarell"/>
              </a:rPr>
              <a:t>Vs Memoização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2"/>
          <p:cNvSpPr/>
          <p:nvPr/>
        </p:nvSpPr>
        <p:spPr>
          <a:xfrm>
            <a:off x="5687640" y="3328560"/>
            <a:ext cx="30160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edf4f7"/>
                </a:solidFill>
                <a:effectLst/>
                <a:uFillTx/>
                <a:latin typeface="Consolas"/>
                <a:ea typeface="Consolas"/>
              </a:rPr>
              <a:t>Mesmo Θ(n) de tempo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edf4f7"/>
                </a:solidFill>
                <a:effectLst/>
                <a:uFillTx/>
                <a:latin typeface="Consolas"/>
                <a:ea typeface="Consolas"/>
              </a:rPr>
              <a:t>mas Θ(1) vs Θ(n) de espaço  ✓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5" name="Table 2"/>
          <p:cNvGraphicFramePr/>
          <p:nvPr/>
        </p:nvGraphicFramePr>
        <p:xfrm>
          <a:off x="320040" y="2999160"/>
          <a:ext cx="8503560" cy="129744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280160"/>
                <a:gridCol w="3566160"/>
              </a:tblGrid>
              <a:tr h="3243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Abordagem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Tempo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Espaço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Pilha Recursão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3243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e63946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Recursivo Ingênuo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e63946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Θ(φⁿ)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edf4f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Θ(n)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edf4f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Sim — profunda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</a:tr>
              <a:tr h="3243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a9d8f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Memoização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a9d8f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Θ(n)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edf4f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Θ(n)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edf4f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Sim — controlada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f2035"/>
                    </a:solidFill>
                  </a:tcPr>
                </a:tc>
              </a:tr>
              <a:tr h="3243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e9c46a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Iterativo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e9c46a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Θ(n)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a9d8f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Θ(1)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a9d8f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Não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e3a5a"/>
                      </a:solidFill>
                      <a:prstDash val="solid"/>
                    </a:lnL>
                    <a:lnR w="12240">
                      <a:solidFill>
                        <a:srgbClr val="1e3a5a"/>
                      </a:solidFill>
                      <a:prstDash val="solid"/>
                    </a:lnR>
                    <a:lnT w="12240">
                      <a:solidFill>
                        <a:srgbClr val="1e3a5a"/>
                      </a:solidFill>
                      <a:prstDash val="solid"/>
                    </a:lnT>
                    <a:lnB w="12240">
                      <a:solidFill>
                        <a:srgbClr val="1e3a5a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186" name="Shape 28"/>
          <p:cNvSpPr/>
          <p:nvPr/>
        </p:nvSpPr>
        <p:spPr>
          <a:xfrm>
            <a:off x="320040" y="4370760"/>
            <a:ext cx="8502480" cy="592920"/>
          </a:xfrm>
          <a:prstGeom prst="rect">
            <a:avLst/>
          </a:prstGeom>
          <a:solidFill>
            <a:srgbClr val="1b3a5c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7" name="Text 33"/>
          <p:cNvSpPr/>
          <p:nvPr/>
        </p:nvSpPr>
        <p:spPr>
          <a:xfrm>
            <a:off x="475560" y="4370760"/>
            <a:ext cx="831960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4a261"/>
                </a:solidFill>
                <a:effectLst/>
                <a:uFillTx/>
                <a:latin typeface="Cantarell"/>
                <a:ea typeface="Cantarell"/>
              </a:rPr>
              <a:t>✓  Iterativo = solução ótima na prática — Θ(n) tempo e Θ(1) espaço, sem overhead de pilha de recursão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0"/>
          <p:cNvSpPr/>
          <p:nvPr/>
        </p:nvSpPr>
        <p:spPr>
          <a:xfrm>
            <a:off x="0" y="0"/>
            <a:ext cx="163080" cy="5142240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9" name="Text 1"/>
          <p:cNvSpPr/>
          <p:nvPr/>
        </p:nvSpPr>
        <p:spPr>
          <a:xfrm>
            <a:off x="320040" y="128160"/>
            <a:ext cx="850248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4a261"/>
                </a:solidFill>
                <a:effectLst/>
                <a:uFillTx/>
                <a:latin typeface="Cantarell"/>
                <a:ea typeface="Cantarell"/>
              </a:rPr>
              <a:t>Conclusões — Plano de ARs Aplicado ao Fibonacci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"/>
          <p:cNvSpPr/>
          <p:nvPr/>
        </p:nvSpPr>
        <p:spPr>
          <a:xfrm>
            <a:off x="320040" y="703800"/>
            <a:ext cx="8503920" cy="360"/>
          </a:xfrm>
          <a:prstGeom prst="line">
            <a:avLst/>
          </a:prstGeom>
          <a:ln w="1764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1" name="Shape 3"/>
          <p:cNvSpPr/>
          <p:nvPr/>
        </p:nvSpPr>
        <p:spPr>
          <a:xfrm>
            <a:off x="320040" y="868680"/>
            <a:ext cx="8502480" cy="711720"/>
          </a:xfrm>
          <a:prstGeom prst="rect">
            <a:avLst/>
          </a:prstGeom>
          <a:solidFill>
            <a:srgbClr val="023047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2" name="Shape 4"/>
          <p:cNvSpPr/>
          <p:nvPr/>
        </p:nvSpPr>
        <p:spPr>
          <a:xfrm>
            <a:off x="320040" y="868680"/>
            <a:ext cx="53280" cy="711720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3" name="Text 5"/>
          <p:cNvSpPr/>
          <p:nvPr/>
        </p:nvSpPr>
        <p:spPr>
          <a:xfrm>
            <a:off x="530280" y="923400"/>
            <a:ext cx="13701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2a9d8f"/>
                </a:solidFill>
                <a:effectLst/>
                <a:uFillTx/>
                <a:latin typeface="Cantarell"/>
                <a:ea typeface="Cantarell"/>
              </a:rPr>
              <a:t>Passo 1–3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6"/>
          <p:cNvSpPr/>
          <p:nvPr/>
        </p:nvSpPr>
        <p:spPr>
          <a:xfrm>
            <a:off x="530280" y="1179720"/>
            <a:ext cx="81824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n = índice · Op = soma · Sem melhor/pior caso  →  análise única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7"/>
          <p:cNvSpPr/>
          <p:nvPr/>
        </p:nvSpPr>
        <p:spPr>
          <a:xfrm>
            <a:off x="320040" y="1691640"/>
            <a:ext cx="8502480" cy="711720"/>
          </a:xfrm>
          <a:prstGeom prst="rect">
            <a:avLst/>
          </a:prstGeom>
          <a:solidFill>
            <a:srgbClr val="0f2035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6" name="Shape 8"/>
          <p:cNvSpPr/>
          <p:nvPr/>
        </p:nvSpPr>
        <p:spPr>
          <a:xfrm>
            <a:off x="320040" y="1691640"/>
            <a:ext cx="53280" cy="71172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7" name="Text 9"/>
          <p:cNvSpPr/>
          <p:nvPr/>
        </p:nvSpPr>
        <p:spPr>
          <a:xfrm>
            <a:off x="530280" y="1746360"/>
            <a:ext cx="13701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4a261"/>
                </a:solidFill>
                <a:effectLst/>
                <a:uFillTx/>
                <a:latin typeface="Cantarell"/>
                <a:ea typeface="Cantarell"/>
              </a:rPr>
              <a:t>Passo 4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0"/>
          <p:cNvSpPr/>
          <p:nvPr/>
        </p:nvSpPr>
        <p:spPr>
          <a:xfrm>
            <a:off x="530280" y="2002680"/>
            <a:ext cx="81824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R(n) = C(n-1) + C(n-2) + 1,   C(0)=C(1)=0   — recorrência linear inhomogênea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1"/>
          <p:cNvSpPr/>
          <p:nvPr/>
        </p:nvSpPr>
        <p:spPr>
          <a:xfrm>
            <a:off x="320040" y="2514600"/>
            <a:ext cx="8502480" cy="711720"/>
          </a:xfrm>
          <a:prstGeom prst="rect">
            <a:avLst/>
          </a:prstGeom>
          <a:solidFill>
            <a:srgbClr val="023047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0" name="Shape 12"/>
          <p:cNvSpPr/>
          <p:nvPr/>
        </p:nvSpPr>
        <p:spPr>
          <a:xfrm>
            <a:off x="320040" y="2514600"/>
            <a:ext cx="53280" cy="71172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1" name="Text 13"/>
          <p:cNvSpPr/>
          <p:nvPr/>
        </p:nvSpPr>
        <p:spPr>
          <a:xfrm>
            <a:off x="530280" y="2569320"/>
            <a:ext cx="13701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e63946"/>
                </a:solidFill>
                <a:effectLst/>
                <a:uFillTx/>
                <a:latin typeface="Cantarell"/>
                <a:ea typeface="Cantarell"/>
              </a:rPr>
              <a:t>Passo 5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4"/>
          <p:cNvSpPr/>
          <p:nvPr/>
        </p:nvSpPr>
        <p:spPr>
          <a:xfrm>
            <a:off x="530280" y="2825640"/>
            <a:ext cx="81824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Equação característica  →  C(n) = φⁿ⁺¹ − 1  ∈  Θ(φⁿ)  ≈  Θ(2ⁿ)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5"/>
          <p:cNvSpPr/>
          <p:nvPr/>
        </p:nvSpPr>
        <p:spPr>
          <a:xfrm>
            <a:off x="320040" y="3337560"/>
            <a:ext cx="8502480" cy="711720"/>
          </a:xfrm>
          <a:prstGeom prst="rect">
            <a:avLst/>
          </a:prstGeom>
          <a:solidFill>
            <a:srgbClr val="0f2035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4" name="Shape 16"/>
          <p:cNvSpPr/>
          <p:nvPr/>
        </p:nvSpPr>
        <p:spPr>
          <a:xfrm>
            <a:off x="320040" y="3337560"/>
            <a:ext cx="53280" cy="711720"/>
          </a:xfrm>
          <a:prstGeom prst="rect">
            <a:avLst/>
          </a:prstGeom>
          <a:solidFill>
            <a:srgbClr val="e9c4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5" name="Text 17"/>
          <p:cNvSpPr/>
          <p:nvPr/>
        </p:nvSpPr>
        <p:spPr>
          <a:xfrm>
            <a:off x="530280" y="3392280"/>
            <a:ext cx="13701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e9c46a"/>
                </a:solidFill>
                <a:effectLst/>
                <a:uFillTx/>
                <a:latin typeface="Cantarell"/>
                <a:ea typeface="Cantarell"/>
              </a:rPr>
              <a:t>Problema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8"/>
          <p:cNvSpPr/>
          <p:nvPr/>
        </p:nvSpPr>
        <p:spPr>
          <a:xfrm>
            <a:off x="530280" y="3648600"/>
            <a:ext cx="81824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Subproblemas sobrepostos: fib(3) calculado 2×, fib(2) 3× — motivação para PD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9"/>
          <p:cNvSpPr/>
          <p:nvPr/>
        </p:nvSpPr>
        <p:spPr>
          <a:xfrm>
            <a:off x="320040" y="4160520"/>
            <a:ext cx="8502480" cy="711720"/>
          </a:xfrm>
          <a:prstGeom prst="rect">
            <a:avLst/>
          </a:prstGeom>
          <a:solidFill>
            <a:srgbClr val="023047"/>
          </a:solidFill>
          <a:ln w="0">
            <a:noFill/>
          </a:ln>
          <a:effectLst>
            <a:outerShdw blurRad="88920" dir="8100000" dist="37674" rotWithShape="0">
              <a:srgbClr val="00000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8" name="Shape 20"/>
          <p:cNvSpPr/>
          <p:nvPr/>
        </p:nvSpPr>
        <p:spPr>
          <a:xfrm>
            <a:off x="320040" y="4160520"/>
            <a:ext cx="53280" cy="711720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9" name="Text 21"/>
          <p:cNvSpPr/>
          <p:nvPr/>
        </p:nvSpPr>
        <p:spPr>
          <a:xfrm>
            <a:off x="530280" y="4215240"/>
            <a:ext cx="13701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2a9d8f"/>
                </a:solidFill>
                <a:effectLst/>
                <a:uFillTx/>
                <a:latin typeface="Cantarell"/>
                <a:ea typeface="Cantarell"/>
              </a:rPr>
              <a:t>Solução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2"/>
          <p:cNvSpPr/>
          <p:nvPr/>
        </p:nvSpPr>
        <p:spPr>
          <a:xfrm>
            <a:off x="530280" y="4471560"/>
            <a:ext cx="81824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df4f7"/>
                </a:solidFill>
                <a:effectLst/>
                <a:uFillTx/>
                <a:latin typeface="Cantarell"/>
                <a:ea typeface="Cantarell"/>
              </a:rPr>
              <a:t>Memoização → Θ(n) tempo Θ(n) espaço · Iterativo → Θ(n) tempo Θ(1) espaço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630</TotalTime>
  <Application>LibreOffice/25.8.6.2$Linux_X86_64 LibreOffice_project/580$Build-2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2026-04-26T10:26:53Z</dcterms:created>
  <dc:creator>PptxGenJS</dc:creator>
  <dc:description/>
  <dc:language>pt-BR</dc:language>
  <cp:lastModifiedBy/>
  <dcterms:modified xsi:type="dcterms:W3CDTF">2026-04-26T21:31:40Z</dcterms:modified>
  <cp:revision>10</cp:revision>
  <dc:subject>PptxGenJS Presentation</dc:subject>
  <dc:title>Fibonacci — Análise de Algoritmos Recursivos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15</vt:r8>
  </property>
  <property fmtid="{D5CDD505-2E9C-101B-9397-08002B2CF9AE}" pid="3" name="PresentationFormat">
    <vt:lpwstr>On-screen Show (16:9)</vt:lpwstr>
  </property>
  <property fmtid="{D5CDD505-2E9C-101B-9397-08002B2CF9AE}" pid="4" name="Slides">
    <vt:r8>15</vt:r8>
  </property>
</Properties>
</file>