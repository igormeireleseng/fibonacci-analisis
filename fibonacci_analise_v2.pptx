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mover o slide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</a:t>
            </a: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CEC9EC3-063D-43D4-802A-0D52C1E8D2AD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58865B-15E4-4895-A423-4196252D6F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CAFFA8-8F55-433C-8B43-31567871A5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D4FD056-AA30-4B4C-A64B-5452024C79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C6B389-AF6B-4784-87B3-3FED1B87A0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041FF1-6212-4F3B-8393-EF09938E06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50ACF1-1860-47A8-BC3C-B05DF9E6BE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AFEBEF-6DCF-4CFF-9E58-CC1E473AEE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7847B66-701E-41FC-A750-20ADE87EA4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4383DA-57AC-4E9F-8C72-916B1E72B2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7E50A4-2A71-411E-B6B3-0B71AF5F5A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55AD75-B6FA-4754-B99C-77B64F79F5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1F179D-3A5D-47D9-AF60-428B36BD71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431ABB1-F906-47D0-BCF5-862DD629FB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86CAFD-E72D-4DFC-B460-2E09771E8D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3D706E-9125-4939-923A-4E618FA5F39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adr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496800"/>
            <a:ext cx="82288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</a:t>
            </a: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texto do título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2a9d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" name="Shape 1"/>
          <p:cNvSpPr/>
          <p:nvPr/>
        </p:nvSpPr>
        <p:spPr>
          <a:xfrm>
            <a:off x="6400800" y="-1097280"/>
            <a:ext cx="4571280" cy="4571280"/>
          </a:xfrm>
          <a:prstGeom prst="ellipse">
            <a:avLst/>
          </a:prstGeom>
          <a:solidFill>
            <a:srgbClr val="1b3a5c"/>
          </a:solidFill>
          <a:ln w="2556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" name="Shape 2"/>
          <p:cNvSpPr/>
          <p:nvPr/>
        </p:nvSpPr>
        <p:spPr>
          <a:xfrm>
            <a:off x="320040" y="255960"/>
            <a:ext cx="2102400" cy="438120"/>
          </a:xfrm>
          <a:prstGeom prst="rect">
            <a:avLst/>
          </a:prstGeom>
          <a:solidFill>
            <a:srgbClr val="2a9d8f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" name="Text 3"/>
          <p:cNvSpPr/>
          <p:nvPr/>
        </p:nvSpPr>
        <p:spPr>
          <a:xfrm>
            <a:off x="320040" y="255960"/>
            <a:ext cx="21024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UEA  ·  EST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320040" y="100584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64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Fibonacci</a:t>
            </a:r>
            <a:endParaRPr lang="pt-BR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320040" y="2148840"/>
            <a:ext cx="8228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pc="300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Análise de Complexidade</a:t>
            </a:r>
            <a:endParaRPr lang="pt-BR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6"/>
          <p:cNvSpPr/>
          <p:nvPr/>
        </p:nvSpPr>
        <p:spPr>
          <a:xfrm>
            <a:off x="320040" y="274320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i="1" u="none" strike="noStrike">
                <a:solidFill>
                  <a:srgbClr val="7a9bb5"/>
                </a:solidFill>
                <a:effectLst/>
                <a:uFillTx/>
                <a:latin typeface="Cantarell"/>
                <a:ea typeface="Cantarell"/>
              </a:rPr>
              <a:t>Algoritmos Recursivos  ·  Plano Geral de ARs (5 Passos)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7"/>
          <p:cNvSpPr/>
          <p:nvPr/>
        </p:nvSpPr>
        <p:spPr>
          <a:xfrm>
            <a:off x="320040" y="3246120"/>
            <a:ext cx="5668560" cy="621000"/>
          </a:xfrm>
          <a:prstGeom prst="rect">
            <a:avLst/>
          </a:prstGeom>
          <a:solidFill>
            <a:srgbClr val="1b3a5c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" name="Text 8"/>
          <p:cNvSpPr/>
          <p:nvPr/>
        </p:nvSpPr>
        <p:spPr>
          <a:xfrm>
            <a:off x="320040" y="3246120"/>
            <a:ext cx="566856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f4a261"/>
                </a:solidFill>
                <a:effectLst/>
                <a:uFillTx/>
                <a:latin typeface="Cantarell"/>
                <a:ea typeface="Consolas"/>
              </a:rPr>
              <a:t>T(n)  =  T(n-1)  +  T(n-2)  +  Θ(1)   →   Θ(φⁿ)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9"/>
          <p:cNvSpPr/>
          <p:nvPr/>
        </p:nvSpPr>
        <p:spPr>
          <a:xfrm>
            <a:off x="320040" y="4773240"/>
            <a:ext cx="8228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7a9bb5"/>
                </a:solidFill>
                <a:effectLst/>
                <a:uFillTx/>
                <a:latin typeface="Cantarell"/>
                <a:ea typeface="Cantarell"/>
              </a:rPr>
              <a:t>Análise de Algoritmos  ·  Apresentação em Dupla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2a9d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" name="Text 1"/>
          <p:cNvSpPr/>
          <p:nvPr/>
        </p:nvSpPr>
        <p:spPr>
          <a:xfrm>
            <a:off x="320040" y="1281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Plano de Análise de ARs — 5 Passos do Professor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2"/>
          <p:cNvSpPr/>
          <p:nvPr/>
        </p:nvSpPr>
        <p:spPr>
          <a:xfrm>
            <a:off x="320040" y="703800"/>
            <a:ext cx="8503920" cy="360"/>
          </a:xfrm>
          <a:prstGeom prst="line">
            <a:avLst/>
          </a:prstGeom>
          <a:ln w="1764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" name="Shape 3"/>
          <p:cNvSpPr/>
          <p:nvPr/>
        </p:nvSpPr>
        <p:spPr>
          <a:xfrm>
            <a:off x="320040" y="914400"/>
            <a:ext cx="438120" cy="438120"/>
          </a:xfrm>
          <a:prstGeom prst="ellipse">
            <a:avLst/>
          </a:prstGeom>
          <a:solidFill>
            <a:srgbClr val="2a9d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" name="Text 4"/>
          <p:cNvSpPr/>
          <p:nvPr/>
        </p:nvSpPr>
        <p:spPr>
          <a:xfrm>
            <a:off x="320040" y="914400"/>
            <a:ext cx="438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1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5"/>
          <p:cNvSpPr/>
          <p:nvPr/>
        </p:nvSpPr>
        <p:spPr>
          <a:xfrm>
            <a:off x="887040" y="905400"/>
            <a:ext cx="79088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Medida n do tamanho da entrada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6"/>
          <p:cNvSpPr/>
          <p:nvPr/>
        </p:nvSpPr>
        <p:spPr>
          <a:xfrm>
            <a:off x="887040" y="1161360"/>
            <a:ext cx="7908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7a9bb5"/>
                </a:solidFill>
                <a:effectLst/>
                <a:uFillTx/>
                <a:latin typeface="Cantarell"/>
                <a:ea typeface="Consolas"/>
              </a:rPr>
              <a:t>n = índice do termo Fibonacci desejado  (n ∈ ℕ, n ≥ 0)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7"/>
          <p:cNvSpPr/>
          <p:nvPr/>
        </p:nvSpPr>
        <p:spPr>
          <a:xfrm>
            <a:off x="320040" y="1710000"/>
            <a:ext cx="438120" cy="438120"/>
          </a:xfrm>
          <a:prstGeom prst="ellipse">
            <a:avLst/>
          </a:prstGeom>
          <a:solidFill>
            <a:srgbClr val="2a9d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" name="Text 8"/>
          <p:cNvSpPr/>
          <p:nvPr/>
        </p:nvSpPr>
        <p:spPr>
          <a:xfrm>
            <a:off x="320040" y="1710000"/>
            <a:ext cx="438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2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9"/>
          <p:cNvSpPr/>
          <p:nvPr/>
        </p:nvSpPr>
        <p:spPr>
          <a:xfrm>
            <a:off x="887040" y="1700640"/>
            <a:ext cx="79088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Identificar a operação básica Op  (mais executada)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887040" y="1956960"/>
            <a:ext cx="7908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7a9bb5"/>
                </a:solidFill>
                <a:effectLst/>
                <a:uFillTx/>
                <a:latin typeface="Cantarell"/>
                <a:ea typeface="Consolas"/>
              </a:rPr>
              <a:t>Op = soma  (fib(n-1) + fib(n-2))  — executada em toda chamada não-base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1"/>
          <p:cNvSpPr/>
          <p:nvPr/>
        </p:nvSpPr>
        <p:spPr>
          <a:xfrm>
            <a:off x="320040" y="2505600"/>
            <a:ext cx="438120" cy="438120"/>
          </a:xfrm>
          <a:prstGeom prst="ellipse">
            <a:avLst/>
          </a:prstGeom>
          <a:solidFill>
            <a:srgbClr val="e9c4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" name="Text 12"/>
          <p:cNvSpPr/>
          <p:nvPr/>
        </p:nvSpPr>
        <p:spPr>
          <a:xfrm>
            <a:off x="320040" y="2505600"/>
            <a:ext cx="438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3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3"/>
          <p:cNvSpPr/>
          <p:nvPr/>
        </p:nvSpPr>
        <p:spPr>
          <a:xfrm>
            <a:off x="887040" y="2496240"/>
            <a:ext cx="79088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Verificar se há pior / médio / melhor caso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4"/>
          <p:cNvSpPr/>
          <p:nvPr/>
        </p:nvSpPr>
        <p:spPr>
          <a:xfrm>
            <a:off x="887040" y="2752200"/>
            <a:ext cx="7908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7a9bb5"/>
                </a:solidFill>
                <a:effectLst/>
                <a:uFillTx/>
                <a:latin typeface="Cantarell"/>
                <a:ea typeface="Consolas"/>
              </a:rPr>
              <a:t>NÃO há variação: fib(n) executa sempre C(n) somas para qualquer entrada de tamanho n → análise única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5"/>
          <p:cNvSpPr/>
          <p:nvPr/>
        </p:nvSpPr>
        <p:spPr>
          <a:xfrm>
            <a:off x="320040" y="3300840"/>
            <a:ext cx="438120" cy="438120"/>
          </a:xfrm>
          <a:prstGeom prst="ellipse">
            <a:avLst/>
          </a:prstGeom>
          <a:solidFill>
            <a:srgbClr val="f4a2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" name="Text 16"/>
          <p:cNvSpPr/>
          <p:nvPr/>
        </p:nvSpPr>
        <p:spPr>
          <a:xfrm>
            <a:off x="320040" y="3300840"/>
            <a:ext cx="438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4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7"/>
          <p:cNvSpPr/>
          <p:nvPr/>
        </p:nvSpPr>
        <p:spPr>
          <a:xfrm>
            <a:off x="887040" y="3291840"/>
            <a:ext cx="79088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Determinar a relação de recorrência R(n)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8"/>
          <p:cNvSpPr/>
          <p:nvPr/>
        </p:nvSpPr>
        <p:spPr>
          <a:xfrm>
            <a:off x="887040" y="3547800"/>
            <a:ext cx="7908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7a9bb5"/>
                </a:solidFill>
                <a:effectLst/>
                <a:uFillTx/>
                <a:latin typeface="Cantarell"/>
                <a:ea typeface="Consolas"/>
              </a:rPr>
              <a:t>C(n) = C(n-1) + C(n-2) + 1,   C(0) = 0,   C(1) = 0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320040" y="4096440"/>
            <a:ext cx="438120" cy="43812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" name="Text 20"/>
          <p:cNvSpPr/>
          <p:nvPr/>
        </p:nvSpPr>
        <p:spPr>
          <a:xfrm>
            <a:off x="320040" y="4096440"/>
            <a:ext cx="438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5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1"/>
          <p:cNvSpPr/>
          <p:nvPr/>
        </p:nvSpPr>
        <p:spPr>
          <a:xfrm>
            <a:off x="887040" y="4087440"/>
            <a:ext cx="79088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Encontrar forma fechada C(n) e classe assintótica  Θ, O ou Ω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22"/>
          <p:cNvSpPr/>
          <p:nvPr/>
        </p:nvSpPr>
        <p:spPr>
          <a:xfrm>
            <a:off x="887040" y="4343400"/>
            <a:ext cx="7908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7a9bb5"/>
                </a:solidFill>
                <a:effectLst/>
                <a:uFillTx/>
                <a:latin typeface="Cantarell"/>
                <a:ea typeface="Consolas"/>
              </a:rPr>
              <a:t>C(n) = φⁿ⁺¹ − 1  ≈  φⁿ/√5     →   Classe  Θ(φⁿ)  ≈  Θ(2ⁿ)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2a9d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" name="Text 1"/>
          <p:cNvSpPr/>
          <p:nvPr/>
        </p:nvSpPr>
        <p:spPr>
          <a:xfrm>
            <a:off x="320040" y="1281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Passos 1 e 2 — Medida n e Operação Básica Op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"/>
          <p:cNvSpPr/>
          <p:nvPr/>
        </p:nvSpPr>
        <p:spPr>
          <a:xfrm>
            <a:off x="320040" y="703800"/>
            <a:ext cx="8503920" cy="360"/>
          </a:xfrm>
          <a:prstGeom prst="line">
            <a:avLst/>
          </a:prstGeom>
          <a:ln w="1764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320040" y="822960"/>
            <a:ext cx="4114080" cy="1919520"/>
          </a:xfrm>
          <a:prstGeom prst="rect">
            <a:avLst/>
          </a:prstGeom>
          <a:solidFill>
            <a:srgbClr val="1b3a5c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" name="Shape 4"/>
          <p:cNvSpPr/>
          <p:nvPr/>
        </p:nvSpPr>
        <p:spPr>
          <a:xfrm>
            <a:off x="475560" y="887040"/>
            <a:ext cx="438120" cy="438120"/>
          </a:xfrm>
          <a:prstGeom prst="ellipse">
            <a:avLst/>
          </a:prstGeom>
          <a:solidFill>
            <a:srgbClr val="2a9d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" name="Text 5"/>
          <p:cNvSpPr/>
          <p:nvPr/>
        </p:nvSpPr>
        <p:spPr>
          <a:xfrm>
            <a:off x="475560" y="887040"/>
            <a:ext cx="438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1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6"/>
          <p:cNvSpPr/>
          <p:nvPr/>
        </p:nvSpPr>
        <p:spPr>
          <a:xfrm>
            <a:off x="1024200" y="88704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Medida n do tamanho da entrada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7"/>
          <p:cNvSpPr/>
          <p:nvPr/>
        </p:nvSpPr>
        <p:spPr>
          <a:xfrm>
            <a:off x="475560" y="1351080"/>
            <a:ext cx="312408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n  =  índice do termo Fibonacci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Exemplo:</a:t>
            </a: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  fib(10) → n = 10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Domínio:</a:t>
            </a: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  n ∈ ℕ,  n ≥ 0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8"/>
          <p:cNvSpPr/>
          <p:nvPr/>
        </p:nvSpPr>
        <p:spPr>
          <a:xfrm>
            <a:off x="4663440" y="822960"/>
            <a:ext cx="4159800" cy="1919520"/>
          </a:xfrm>
          <a:prstGeom prst="rect">
            <a:avLst/>
          </a:prstGeom>
          <a:solidFill>
            <a:srgbClr val="1b3a5c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" name="Shape 9"/>
          <p:cNvSpPr/>
          <p:nvPr/>
        </p:nvSpPr>
        <p:spPr>
          <a:xfrm>
            <a:off x="4818960" y="887040"/>
            <a:ext cx="438120" cy="438120"/>
          </a:xfrm>
          <a:prstGeom prst="ellipse">
            <a:avLst/>
          </a:prstGeom>
          <a:solidFill>
            <a:srgbClr val="2a9d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" name="Text 10"/>
          <p:cNvSpPr/>
          <p:nvPr/>
        </p:nvSpPr>
        <p:spPr>
          <a:xfrm>
            <a:off x="4818960" y="887040"/>
            <a:ext cx="438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2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5367600" y="887040"/>
            <a:ext cx="3336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Operação básica Op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2"/>
          <p:cNvSpPr/>
          <p:nvPr/>
        </p:nvSpPr>
        <p:spPr>
          <a:xfrm>
            <a:off x="4818960" y="1351080"/>
            <a:ext cx="383976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Op  =  soma</a:t>
            </a: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  (fib(n-1) + fib(n-2))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e9c46a"/>
                </a:solidFill>
                <a:effectLst/>
                <a:uFillTx/>
                <a:latin typeface="Cantarell"/>
                <a:ea typeface="Cantarell"/>
              </a:rPr>
              <a:t>Por que soma e não comparação?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A comparação  se n ≤ 1  ocorre em TODAS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as chamadas (inclusive casos base).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A soma só ocorre em chamadas não-base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e representa o trabalho útil do algoritmo.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3"/>
          <p:cNvSpPr/>
          <p:nvPr/>
        </p:nvSpPr>
        <p:spPr>
          <a:xfrm>
            <a:off x="320040" y="2880360"/>
            <a:ext cx="8503200" cy="68508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" name="Text 14"/>
          <p:cNvSpPr/>
          <p:nvPr/>
        </p:nvSpPr>
        <p:spPr>
          <a:xfrm>
            <a:off x="320040" y="2880360"/>
            <a:ext cx="85032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e63946"/>
                </a:solidFill>
                <a:effectLst/>
                <a:uFillTx/>
                <a:latin typeface="Cantarell"/>
                <a:ea typeface="Consolas"/>
              </a:rPr>
              <a:t>return </a:t>
            </a:r>
            <a:r>
              <a:rPr lang="en-US" sz="1300" b="0" u="none" strike="noStrike">
                <a:solidFill>
                  <a:srgbClr val="2a9d8f"/>
                </a:solidFill>
                <a:effectLst/>
                <a:uFillTx/>
                <a:latin typeface="Cantarell"/>
                <a:ea typeface="Consolas"/>
              </a:rPr>
              <a:t>fib(n-1)</a:t>
            </a:r>
            <a:r>
              <a:rPr lang="en-US" sz="13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onsolas"/>
              </a:rPr>
              <a:t>  +  </a:t>
            </a:r>
            <a:r>
              <a:rPr lang="en-US" sz="1300" b="0" u="none" strike="noStrike">
                <a:solidFill>
                  <a:srgbClr val="2a9d8f"/>
                </a:solidFill>
                <a:effectLst/>
                <a:uFillTx/>
                <a:latin typeface="Cantarell"/>
                <a:ea typeface="Consolas"/>
              </a:rPr>
              <a:t>fib(n-2)</a:t>
            </a:r>
            <a:r>
              <a:rPr lang="en-US" sz="1300" b="0" u="none" strike="noStrike">
                <a:solidFill>
                  <a:srgbClr val="7a9bb5"/>
                </a:solidFill>
                <a:effectLst/>
                <a:uFillTx/>
                <a:latin typeface="Cantarell"/>
                <a:ea typeface="Consolas"/>
              </a:rPr>
              <a:t>   ← Op acontece aqui, uma vez por chamada não-base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5"/>
          <p:cNvSpPr/>
          <p:nvPr/>
        </p:nvSpPr>
        <p:spPr>
          <a:xfrm>
            <a:off x="320040" y="3657600"/>
            <a:ext cx="8503200" cy="1261080"/>
          </a:xfrm>
          <a:prstGeom prst="rect">
            <a:avLst/>
          </a:prstGeom>
          <a:solidFill>
            <a:srgbClr val="08192b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" name="Text 16"/>
          <p:cNvSpPr/>
          <p:nvPr/>
        </p:nvSpPr>
        <p:spPr>
          <a:xfrm>
            <a:off x="448200" y="3749040"/>
            <a:ext cx="8247240" cy="10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def fib(n):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    if n &lt;= 1:          # caso base → sem soma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        return n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    return fib(n-1) + fib(n-2)   # ← Op: 1 soma aqui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e9c4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" name="Text 1"/>
          <p:cNvSpPr/>
          <p:nvPr/>
        </p:nvSpPr>
        <p:spPr>
          <a:xfrm>
            <a:off x="320040" y="1281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9c46a"/>
                </a:solidFill>
                <a:effectLst/>
                <a:uFillTx/>
                <a:latin typeface="Cantarell"/>
                <a:ea typeface="Cantarell"/>
              </a:rPr>
              <a:t>Passo 3 — Há Pior / Médio / Melhor Caso?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"/>
          <p:cNvSpPr/>
          <p:nvPr/>
        </p:nvSpPr>
        <p:spPr>
          <a:xfrm>
            <a:off x="320040" y="703800"/>
            <a:ext cx="8503920" cy="360"/>
          </a:xfrm>
          <a:prstGeom prst="line">
            <a:avLst/>
          </a:prstGeom>
          <a:ln w="1764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" name="Shape 3"/>
          <p:cNvSpPr/>
          <p:nvPr/>
        </p:nvSpPr>
        <p:spPr>
          <a:xfrm>
            <a:off x="320040" y="822960"/>
            <a:ext cx="8503200" cy="95940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" name="Shape 4"/>
          <p:cNvSpPr/>
          <p:nvPr/>
        </p:nvSpPr>
        <p:spPr>
          <a:xfrm>
            <a:off x="475560" y="887040"/>
            <a:ext cx="438120" cy="438120"/>
          </a:xfrm>
          <a:prstGeom prst="ellipse">
            <a:avLst/>
          </a:prstGeom>
          <a:solidFill>
            <a:srgbClr val="e9c4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" name="Text 5"/>
          <p:cNvSpPr/>
          <p:nvPr/>
        </p:nvSpPr>
        <p:spPr>
          <a:xfrm>
            <a:off x="475560" y="887040"/>
            <a:ext cx="438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3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6"/>
          <p:cNvSpPr/>
          <p:nvPr/>
        </p:nvSpPr>
        <p:spPr>
          <a:xfrm>
            <a:off x="1051560" y="822960"/>
            <a:ext cx="763452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e63946"/>
                </a:solidFill>
                <a:effectLst/>
                <a:uFillTx/>
                <a:latin typeface="Cantarell"/>
                <a:ea typeface="Cantarell"/>
              </a:rPr>
              <a:t>NÃO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  — C(n) depende apenas de n, não da estrutura interna da entrada.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7"/>
          <p:cNvSpPr/>
          <p:nvPr/>
        </p:nvSpPr>
        <p:spPr>
          <a:xfrm>
            <a:off x="320040" y="1920240"/>
            <a:ext cx="4114080" cy="2193840"/>
          </a:xfrm>
          <a:prstGeom prst="rect">
            <a:avLst/>
          </a:prstGeom>
          <a:solidFill>
            <a:srgbClr val="1b3a5c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" name="Text 8"/>
          <p:cNvSpPr/>
          <p:nvPr/>
        </p:nvSpPr>
        <p:spPr>
          <a:xfrm>
            <a:off x="475560" y="1984320"/>
            <a:ext cx="3794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Fibonacci / Fatorial / Hanói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9"/>
          <p:cNvSpPr/>
          <p:nvPr/>
        </p:nvSpPr>
        <p:spPr>
          <a:xfrm>
            <a:off x="475560" y="2304360"/>
            <a:ext cx="379404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Dado n, o algoritmo executa sempre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exatamente C(n) operações.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Não existe fib(10) 'mais fácil'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que outro fib(10).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→ Análise única (sem casos separados)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0"/>
          <p:cNvSpPr/>
          <p:nvPr/>
        </p:nvSpPr>
        <p:spPr>
          <a:xfrm>
            <a:off x="4663440" y="1920240"/>
            <a:ext cx="4159800" cy="2193840"/>
          </a:xfrm>
          <a:prstGeom prst="rect">
            <a:avLst/>
          </a:prstGeom>
          <a:solidFill>
            <a:srgbClr val="1a1a2e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" name="Text 11"/>
          <p:cNvSpPr/>
          <p:nvPr/>
        </p:nvSpPr>
        <p:spPr>
          <a:xfrm>
            <a:off x="4818960" y="198432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e63946"/>
                </a:solidFill>
                <a:effectLst/>
                <a:uFillTx/>
                <a:latin typeface="Cantarell"/>
                <a:ea typeface="Cantarell"/>
              </a:rPr>
              <a:t>Contra-exemplo: Busca Linear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2"/>
          <p:cNvSpPr/>
          <p:nvPr/>
        </p:nvSpPr>
        <p:spPr>
          <a:xfrm>
            <a:off x="4818960" y="2304360"/>
            <a:ext cx="383976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Array de tamanho n: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Melhor caso: elemento na posição 0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→ C_min(n) = 1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Pior caso: não encontrado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→ C_max(n) = n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→ Requer análise separada por caso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13"/>
          <p:cNvSpPr/>
          <p:nvPr/>
        </p:nvSpPr>
        <p:spPr>
          <a:xfrm>
            <a:off x="320040" y="4224600"/>
            <a:ext cx="8503200" cy="621000"/>
          </a:xfrm>
          <a:prstGeom prst="rect">
            <a:avLst/>
          </a:prstGeom>
          <a:solidFill>
            <a:srgbClr val="2a9d8f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" name="Text 14"/>
          <p:cNvSpPr/>
          <p:nvPr/>
        </p:nvSpPr>
        <p:spPr>
          <a:xfrm>
            <a:off x="502920" y="4224600"/>
            <a:ext cx="832032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Conclusão do Passo 3: Fibonacci não exige separação de casos — avança direto ao Passo 4.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f4a2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" name="Text 1"/>
          <p:cNvSpPr/>
          <p:nvPr/>
        </p:nvSpPr>
        <p:spPr>
          <a:xfrm>
            <a:off x="320040" y="1281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Passo 4 — Relação de Recorrência R(n)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"/>
          <p:cNvSpPr/>
          <p:nvPr/>
        </p:nvSpPr>
        <p:spPr>
          <a:xfrm>
            <a:off x="320040" y="703800"/>
            <a:ext cx="8503920" cy="360"/>
          </a:xfrm>
          <a:prstGeom prst="line">
            <a:avLst/>
          </a:prstGeom>
          <a:ln w="1764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" name="Shape 3"/>
          <p:cNvSpPr/>
          <p:nvPr/>
        </p:nvSpPr>
        <p:spPr>
          <a:xfrm>
            <a:off x="320040" y="822960"/>
            <a:ext cx="438120" cy="438120"/>
          </a:xfrm>
          <a:prstGeom prst="ellipse">
            <a:avLst/>
          </a:prstGeom>
          <a:solidFill>
            <a:srgbClr val="f4a2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" name="Text 4"/>
          <p:cNvSpPr/>
          <p:nvPr/>
        </p:nvSpPr>
        <p:spPr>
          <a:xfrm>
            <a:off x="320040" y="822960"/>
            <a:ext cx="438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4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5"/>
          <p:cNvSpPr/>
          <p:nvPr/>
        </p:nvSpPr>
        <p:spPr>
          <a:xfrm>
            <a:off x="320040" y="804600"/>
            <a:ext cx="4296960" cy="3291120"/>
          </a:xfrm>
          <a:prstGeom prst="rect">
            <a:avLst/>
          </a:prstGeom>
          <a:solidFill>
            <a:srgbClr val="0a1628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" name="Text 6"/>
          <p:cNvSpPr/>
          <p:nvPr/>
        </p:nvSpPr>
        <p:spPr>
          <a:xfrm>
            <a:off x="475560" y="850320"/>
            <a:ext cx="3976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Como montar R(n):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7"/>
          <p:cNvSpPr/>
          <p:nvPr/>
        </p:nvSpPr>
        <p:spPr>
          <a:xfrm>
            <a:off x="475560" y="1143000"/>
            <a:ext cx="3976920" cy="28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1. Chamada fib(n) realiza: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   • fib(n-1)  → custo C(n-1)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   • fib(n-2)  → custo C(n-2)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e9c46a"/>
                </a:solidFill>
                <a:effectLst/>
                <a:uFillTx/>
                <a:latin typeface="Cantarell"/>
                <a:ea typeface="Cantarell"/>
              </a:rPr>
              <a:t>   • 1 soma     → custo +1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2. Logo: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   C(n) = C(n-1) + C(n-2) + 1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3. Casos base (sem soma):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   C(0) = 0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   C(1) = 0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8"/>
          <p:cNvSpPr/>
          <p:nvPr/>
        </p:nvSpPr>
        <p:spPr>
          <a:xfrm>
            <a:off x="4773240" y="804600"/>
            <a:ext cx="4050000" cy="329112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8" name="Text 9"/>
          <p:cNvSpPr/>
          <p:nvPr/>
        </p:nvSpPr>
        <p:spPr>
          <a:xfrm>
            <a:off x="4919400" y="850320"/>
            <a:ext cx="37483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Verificação — C(n) vs fib(n):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9" name="Table 0"/>
          <p:cNvGraphicFramePr/>
          <p:nvPr/>
        </p:nvGraphicFramePr>
        <p:xfrm>
          <a:off x="4919400" y="1152000"/>
          <a:ext cx="3748680" cy="28512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554480"/>
              </a:tblGrid>
              <a:tr h="259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n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fib(n)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C(n) somas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1b3a5c"/>
                    </a:solidFill>
                  </a:tcPr>
                </a:tc>
              </a:tr>
              <a:tr h="259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9c46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</a:tr>
              <a:tr h="259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9c46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</a:tr>
              <a:tr h="259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2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9c46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</a:tr>
              <a:tr h="259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3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2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9c46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2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</a:tr>
              <a:tr h="259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4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3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9c46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4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</a:tr>
              <a:tr h="259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5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5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9c46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7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</a:tr>
              <a:tr h="259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6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8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9c46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12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</a:tr>
              <a:tr h="259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7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13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9c46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20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</a:tr>
              <a:tr h="259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8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21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9c46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33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</a:tr>
              <a:tr h="259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10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55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00" b="0" u="none" strike="noStrike">
                          <a:solidFill>
                            <a:srgbClr val="e9c46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88</a:t>
                      </a:r>
                      <a:endParaRPr lang="pt-BR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</a:tr>
            </a:tbl>
          </a:graphicData>
        </a:graphic>
      </p:graphicFrame>
      <p:sp>
        <p:nvSpPr>
          <p:cNvPr id="90" name="Shape 10"/>
          <p:cNvSpPr/>
          <p:nvPr/>
        </p:nvSpPr>
        <p:spPr>
          <a:xfrm>
            <a:off x="320040" y="4224600"/>
            <a:ext cx="8503200" cy="685080"/>
          </a:xfrm>
          <a:prstGeom prst="rect">
            <a:avLst/>
          </a:prstGeom>
          <a:solidFill>
            <a:srgbClr val="1b3a5c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Text 11"/>
          <p:cNvSpPr/>
          <p:nvPr/>
        </p:nvSpPr>
        <p:spPr>
          <a:xfrm>
            <a:off x="320040" y="4224600"/>
            <a:ext cx="85032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onsolas"/>
              </a:rPr>
              <a:t>C(n) = C(n-1) + C(n-2) + 1,   </a:t>
            </a:r>
            <a:r>
              <a:rPr lang="en-US" sz="1400" b="0" u="none" strike="noStrike">
                <a:solidFill>
                  <a:srgbClr val="2a9d8f"/>
                </a:solidFill>
                <a:effectLst/>
                <a:uFillTx/>
                <a:latin typeface="Cantarell"/>
                <a:ea typeface="Consolas"/>
              </a:rPr>
              <a:t>C(0) = C(1) = 0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" name="Text 1"/>
          <p:cNvSpPr/>
          <p:nvPr/>
        </p:nvSpPr>
        <p:spPr>
          <a:xfrm>
            <a:off x="320040" y="1281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63946"/>
                </a:solidFill>
                <a:effectLst/>
                <a:uFillTx/>
                <a:latin typeface="Cantarell"/>
                <a:ea typeface="Cantarell"/>
              </a:rPr>
              <a:t>Passo 5 — Por que não usar Substituições para Trás?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"/>
          <p:cNvSpPr/>
          <p:nvPr/>
        </p:nvSpPr>
        <p:spPr>
          <a:xfrm>
            <a:off x="320040" y="703800"/>
            <a:ext cx="8503920" cy="360"/>
          </a:xfrm>
          <a:prstGeom prst="line">
            <a:avLst/>
          </a:prstGeom>
          <a:ln w="1764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" name="Shape 3"/>
          <p:cNvSpPr/>
          <p:nvPr/>
        </p:nvSpPr>
        <p:spPr>
          <a:xfrm>
            <a:off x="320040" y="804600"/>
            <a:ext cx="3931200" cy="383976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6" name="Text 4"/>
          <p:cNvSpPr/>
          <p:nvPr/>
        </p:nvSpPr>
        <p:spPr>
          <a:xfrm>
            <a:off x="457200" y="850320"/>
            <a:ext cx="3656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Fatorial — FUNCIONA ✓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5"/>
          <p:cNvSpPr/>
          <p:nvPr/>
        </p:nvSpPr>
        <p:spPr>
          <a:xfrm>
            <a:off x="457200" y="1170360"/>
            <a:ext cx="3656880" cy="33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onsolas"/>
              </a:rPr>
              <a:t>C(n) = C(n-1) + 1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→  C(n-1) + 1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=  C(n-2) + 2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=  C(n-3) + 3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7a9bb5"/>
                </a:solidFill>
                <a:effectLst/>
                <a:uFillTx/>
                <a:latin typeface="Cantarell"/>
                <a:ea typeface="Consolas"/>
              </a:rPr>
              <a:t>        ...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=  C(n-i) + i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7a9bb5"/>
                </a:solidFill>
                <a:effectLst/>
                <a:uFillTx/>
                <a:latin typeface="Cantarell"/>
                <a:ea typeface="Consolas"/>
              </a:rPr>
              <a:t>        ...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e9c46a"/>
                </a:solidFill>
                <a:effectLst/>
                <a:uFillTx/>
                <a:latin typeface="Cantarell"/>
                <a:ea typeface="Consolas"/>
              </a:rPr>
              <a:t>=  C(0) + n  =  n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onsolas"/>
              </a:rPr>
              <a:t>Resultado: C(n) = n  ∈  Θ(n)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6"/>
          <p:cNvSpPr/>
          <p:nvPr/>
        </p:nvSpPr>
        <p:spPr>
          <a:xfrm>
            <a:off x="4434840" y="804600"/>
            <a:ext cx="4662720" cy="3839760"/>
          </a:xfrm>
          <a:prstGeom prst="rect">
            <a:avLst/>
          </a:prstGeom>
          <a:solidFill>
            <a:srgbClr val="1a1a2e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9" name="Text 7"/>
          <p:cNvSpPr/>
          <p:nvPr/>
        </p:nvSpPr>
        <p:spPr>
          <a:xfrm>
            <a:off x="4572000" y="850320"/>
            <a:ext cx="43884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e63946"/>
                </a:solidFill>
                <a:effectLst/>
                <a:uFillTx/>
                <a:latin typeface="Cantarell"/>
                <a:ea typeface="Cantarell"/>
              </a:rPr>
              <a:t>Fibonacci — NÃO funciona direto ✗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8"/>
          <p:cNvSpPr/>
          <p:nvPr/>
        </p:nvSpPr>
        <p:spPr>
          <a:xfrm>
            <a:off x="4572000" y="1170360"/>
            <a:ext cx="4388400" cy="33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onsolas"/>
              </a:rPr>
              <a:t>C(n) = C(n-1) + C(n-2) + 1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i="1" u="none" strike="noStrike">
                <a:solidFill>
                  <a:srgbClr val="7a9bb5"/>
                </a:solidFill>
                <a:effectLst/>
                <a:uFillTx/>
                <a:latin typeface="Cantarell"/>
                <a:ea typeface="Consolas"/>
              </a:rPr>
              <a:t>1ª substituição de C(n-1):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= C(n-2) + C(n-3) + 1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  + C(n-2) + 1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= 2·C(n-2) + C(n-3) + 2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i="1" u="none" strike="noStrike">
                <a:solidFill>
                  <a:srgbClr val="7a9bb5"/>
                </a:solidFill>
                <a:effectLst/>
                <a:uFillTx/>
                <a:latin typeface="Cantarell"/>
                <a:ea typeface="Consolas"/>
              </a:rPr>
              <a:t>2ª substituição: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= 3·C(n-3) + 2·C(n-4) + ...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e63946"/>
                </a:solidFill>
                <a:effectLst/>
                <a:uFillTx/>
                <a:latin typeface="Cantarell"/>
                <a:ea typeface="Consolas"/>
              </a:rPr>
              <a:t>Termos dobram a cada passo!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e63946"/>
                </a:solidFill>
                <a:effectLst/>
                <a:uFillTx/>
                <a:latin typeface="Cantarell"/>
                <a:ea typeface="Consolas"/>
              </a:rPr>
              <a:t>→ impossível somar diretamente.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e9c46a"/>
                </a:solidFill>
                <a:effectLst/>
                <a:uFillTx/>
                <a:latin typeface="Cantarell"/>
                <a:ea typeface="Consolas"/>
              </a:rPr>
              <a:t>Solução: Equação Característica →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320040" y="1281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63946"/>
                </a:solidFill>
                <a:effectLst/>
                <a:uFillTx/>
                <a:latin typeface="Cantarell"/>
                <a:ea typeface="Cantarell"/>
              </a:rPr>
              <a:t>Passo 5 — Equação Característica (Passo a Passo)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2"/>
          <p:cNvSpPr/>
          <p:nvPr/>
        </p:nvSpPr>
        <p:spPr>
          <a:xfrm>
            <a:off x="320040" y="703800"/>
            <a:ext cx="8503920" cy="360"/>
          </a:xfrm>
          <a:prstGeom prst="line">
            <a:avLst/>
          </a:prstGeom>
          <a:ln w="1764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" name="Shape 3"/>
          <p:cNvSpPr/>
          <p:nvPr/>
        </p:nvSpPr>
        <p:spPr>
          <a:xfrm>
            <a:off x="320040" y="804600"/>
            <a:ext cx="4205520" cy="126108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457200" y="868680"/>
            <a:ext cx="3931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①  Recorrência homogênea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457200" y="1188720"/>
            <a:ext cx="3931200" cy="8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Ignorar o +1 (particular) → rⁿ = rⁿ⁻¹ + rⁿ⁻²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6"/>
          <p:cNvSpPr/>
          <p:nvPr/>
        </p:nvSpPr>
        <p:spPr>
          <a:xfrm>
            <a:off x="320040" y="2194560"/>
            <a:ext cx="4205520" cy="126108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8" name="Text 7"/>
          <p:cNvSpPr/>
          <p:nvPr/>
        </p:nvSpPr>
        <p:spPr>
          <a:xfrm>
            <a:off x="457200" y="2258640"/>
            <a:ext cx="3931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②  Dividir por rⁿ⁻²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8"/>
          <p:cNvSpPr/>
          <p:nvPr/>
        </p:nvSpPr>
        <p:spPr>
          <a:xfrm>
            <a:off x="457200" y="2578680"/>
            <a:ext cx="3931200" cy="8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r² = r + 1   →   r² − r − 1 = 0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9"/>
          <p:cNvSpPr/>
          <p:nvPr/>
        </p:nvSpPr>
        <p:spPr>
          <a:xfrm>
            <a:off x="320040" y="3584520"/>
            <a:ext cx="4205520" cy="126108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1" name="Text 10"/>
          <p:cNvSpPr/>
          <p:nvPr/>
        </p:nvSpPr>
        <p:spPr>
          <a:xfrm>
            <a:off x="457200" y="3648600"/>
            <a:ext cx="3931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③  Raízes da equação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1"/>
          <p:cNvSpPr/>
          <p:nvPr/>
        </p:nvSpPr>
        <p:spPr>
          <a:xfrm>
            <a:off x="457200" y="3968640"/>
            <a:ext cx="3931200" cy="8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r = (1 ± √5) / 2   →   r₁ = φ ≈ 1,618  (razão áurea)   r₂ = ψ ≈ −0,618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2"/>
          <p:cNvSpPr/>
          <p:nvPr/>
        </p:nvSpPr>
        <p:spPr>
          <a:xfrm>
            <a:off x="4709160" y="804600"/>
            <a:ext cx="4205520" cy="1261080"/>
          </a:xfrm>
          <a:prstGeom prst="rect">
            <a:avLst/>
          </a:prstGeom>
          <a:solidFill>
            <a:srgbClr val="0f2035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4" name="Text 13"/>
          <p:cNvSpPr/>
          <p:nvPr/>
        </p:nvSpPr>
        <p:spPr>
          <a:xfrm>
            <a:off x="4846320" y="868680"/>
            <a:ext cx="3931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e9c46a"/>
                </a:solidFill>
                <a:effectLst/>
                <a:uFillTx/>
                <a:latin typeface="Cantarell"/>
                <a:ea typeface="Cantarell"/>
              </a:rPr>
              <a:t>④  Solução geral + particular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4"/>
          <p:cNvSpPr/>
          <p:nvPr/>
        </p:nvSpPr>
        <p:spPr>
          <a:xfrm>
            <a:off x="4846320" y="1188720"/>
            <a:ext cx="3931200" cy="8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C(n) = A·φⁿ + B·ψⁿ + particular  (para +1 constante, particular = −1)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5"/>
          <p:cNvSpPr/>
          <p:nvPr/>
        </p:nvSpPr>
        <p:spPr>
          <a:xfrm>
            <a:off x="4709160" y="2194560"/>
            <a:ext cx="4205520" cy="1261080"/>
          </a:xfrm>
          <a:prstGeom prst="rect">
            <a:avLst/>
          </a:prstGeom>
          <a:solidFill>
            <a:srgbClr val="0f2035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7" name="Text 16"/>
          <p:cNvSpPr/>
          <p:nvPr/>
        </p:nvSpPr>
        <p:spPr>
          <a:xfrm>
            <a:off x="4846320" y="2258640"/>
            <a:ext cx="3931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e9c46a"/>
                </a:solidFill>
                <a:effectLst/>
                <a:uFillTx/>
                <a:latin typeface="Cantarell"/>
                <a:ea typeface="Cantarell"/>
              </a:rPr>
              <a:t>⑤  Como |ψ| &lt; 1, ψⁿ → 0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7"/>
          <p:cNvSpPr/>
          <p:nvPr/>
        </p:nvSpPr>
        <p:spPr>
          <a:xfrm>
            <a:off x="4846320" y="2578680"/>
            <a:ext cx="3931200" cy="8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O termo B·ψⁿ tende a zero — não domina a expressão assintoticamente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8"/>
          <p:cNvSpPr/>
          <p:nvPr/>
        </p:nvSpPr>
        <p:spPr>
          <a:xfrm>
            <a:off x="4709160" y="3584520"/>
            <a:ext cx="4205520" cy="1261080"/>
          </a:xfrm>
          <a:prstGeom prst="rect">
            <a:avLst/>
          </a:prstGeom>
          <a:solidFill>
            <a:srgbClr val="0f2035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0" name="Text 19"/>
          <p:cNvSpPr/>
          <p:nvPr/>
        </p:nvSpPr>
        <p:spPr>
          <a:xfrm>
            <a:off x="4846320" y="3648600"/>
            <a:ext cx="3931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e63946"/>
                </a:solidFill>
                <a:effectLst/>
                <a:uFillTx/>
                <a:latin typeface="Cantarell"/>
                <a:ea typeface="Cantarell"/>
              </a:rPr>
              <a:t>⑥  Forma fechada e classe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0"/>
          <p:cNvSpPr/>
          <p:nvPr/>
        </p:nvSpPr>
        <p:spPr>
          <a:xfrm>
            <a:off x="4846320" y="3968640"/>
            <a:ext cx="3931200" cy="8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C(n) = φⁿ⁺¹ − 1  ≈  φⁿ / √5     →   C(n) ∈  Θ(φⁿ)  ≈  Θ(2ⁿ)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3" name="Text 1"/>
          <p:cNvSpPr/>
          <p:nvPr/>
        </p:nvSpPr>
        <p:spPr>
          <a:xfrm>
            <a:off x="320040" y="1281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63946"/>
                </a:solidFill>
                <a:effectLst/>
                <a:uFillTx/>
                <a:latin typeface="Cantarell"/>
                <a:ea typeface="Cantarell"/>
              </a:rPr>
              <a:t>Árvore de Chamadas — fib(5)  (subproblemas repetidos)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"/>
          <p:cNvSpPr/>
          <p:nvPr/>
        </p:nvSpPr>
        <p:spPr>
          <a:xfrm>
            <a:off x="320040" y="703800"/>
            <a:ext cx="8503920" cy="360"/>
          </a:xfrm>
          <a:prstGeom prst="line">
            <a:avLst/>
          </a:prstGeom>
          <a:ln w="1764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5" name=""/>
          <p:cNvPicPr/>
          <p:nvPr/>
        </p:nvPicPr>
        <p:blipFill>
          <a:blip r:embed="rId1"/>
          <a:stretch/>
        </p:blipFill>
        <p:spPr>
          <a:xfrm>
            <a:off x="681480" y="808920"/>
            <a:ext cx="7742520" cy="427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f4a2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320040" y="1281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Confirmação Empírica — Número de Operações C(n)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"/>
          <p:cNvSpPr/>
          <p:nvPr/>
        </p:nvSpPr>
        <p:spPr>
          <a:xfrm>
            <a:off x="320040" y="703800"/>
            <a:ext cx="8503920" cy="360"/>
          </a:xfrm>
          <a:prstGeom prst="line">
            <a:avLst/>
          </a:prstGeom>
          <a:ln w="1764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9" name=""/>
          <p:cNvPicPr/>
          <p:nvPr/>
        </p:nvPicPr>
        <p:blipFill>
          <a:blip r:embed="rId1"/>
          <a:stretch/>
        </p:blipFill>
        <p:spPr>
          <a:xfrm>
            <a:off x="1140480" y="792000"/>
            <a:ext cx="6828840" cy="423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7a9bb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320040" y="1281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Tempo de Execução Real — Três Abordagens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20040" y="703800"/>
            <a:ext cx="8503920" cy="360"/>
          </a:xfrm>
          <a:prstGeom prst="line">
            <a:avLst/>
          </a:prstGeom>
          <a:ln w="1764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33" name=""/>
          <p:cNvPicPr/>
          <p:nvPr/>
        </p:nvPicPr>
        <p:blipFill>
          <a:blip r:embed="rId1"/>
          <a:stretch/>
        </p:blipFill>
        <p:spPr>
          <a:xfrm>
            <a:off x="288000" y="921240"/>
            <a:ext cx="8601120" cy="342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f4a2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320040" y="1281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Tabela de Valores — C(n) vs φⁿ/√5  (validando a forma fechada)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"/>
          <p:cNvSpPr/>
          <p:nvPr/>
        </p:nvSpPr>
        <p:spPr>
          <a:xfrm>
            <a:off x="320040" y="811800"/>
            <a:ext cx="8503920" cy="360"/>
          </a:xfrm>
          <a:prstGeom prst="line">
            <a:avLst/>
          </a:prstGeom>
          <a:ln w="1764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7" name="Shape 3"/>
          <p:cNvSpPr/>
          <p:nvPr/>
        </p:nvSpPr>
        <p:spPr>
          <a:xfrm>
            <a:off x="320040" y="4800600"/>
            <a:ext cx="8503200" cy="182160"/>
          </a:xfrm>
          <a:prstGeom prst="rect">
            <a:avLst/>
          </a:prstGeom>
          <a:solidFill>
            <a:srgbClr val="1b3a5c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8" name="Text 4"/>
          <p:cNvSpPr/>
          <p:nvPr/>
        </p:nvSpPr>
        <p:spPr>
          <a:xfrm>
            <a:off x="320040" y="4773240"/>
            <a:ext cx="8503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4a261"/>
                </a:solidFill>
                <a:effectLst/>
                <a:uFillTx/>
                <a:latin typeface="Consolas"/>
                <a:ea typeface="Consolas"/>
              </a:rPr>
              <a:t>C(n) ≈ φⁿ/√5  confirma empiricamente que a recorrência cresce como a razão áurea — validação do Passo 5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" name=""/>
          <p:cNvPicPr/>
          <p:nvPr/>
        </p:nvPicPr>
        <p:blipFill>
          <a:blip r:embed="rId1"/>
          <a:stretch/>
        </p:blipFill>
        <p:spPr>
          <a:xfrm>
            <a:off x="573480" y="867240"/>
            <a:ext cx="8102520" cy="388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2a9d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1" name="Text 1"/>
          <p:cNvSpPr/>
          <p:nvPr/>
        </p:nvSpPr>
        <p:spPr>
          <a:xfrm>
            <a:off x="320040" y="1281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Comparação de Desempenho — Recursivo · Memoização · Iterativo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2"/>
          <p:cNvSpPr/>
          <p:nvPr/>
        </p:nvSpPr>
        <p:spPr>
          <a:xfrm>
            <a:off x="320040" y="703800"/>
            <a:ext cx="8503920" cy="360"/>
          </a:xfrm>
          <a:prstGeom prst="line">
            <a:avLst/>
          </a:prstGeom>
          <a:ln w="1764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3" name=""/>
          <p:cNvPicPr/>
          <p:nvPr/>
        </p:nvPicPr>
        <p:blipFill>
          <a:blip r:embed="rId1"/>
          <a:stretch/>
        </p:blipFill>
        <p:spPr>
          <a:xfrm>
            <a:off x="396000" y="1026000"/>
            <a:ext cx="8421120" cy="3358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2a9d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320040" y="1281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Abordagem 2 — Memoização (Top-Down)  Θ(n)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"/>
          <p:cNvSpPr/>
          <p:nvPr/>
        </p:nvSpPr>
        <p:spPr>
          <a:xfrm>
            <a:off x="320040" y="703800"/>
            <a:ext cx="8503920" cy="360"/>
          </a:xfrm>
          <a:prstGeom prst="line">
            <a:avLst/>
          </a:prstGeom>
          <a:ln w="1764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216000" y="900000"/>
            <a:ext cx="6659640" cy="240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def fib_memo(n, memo=None):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    if memo is None: memo = {}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    if n &lt;= 1: return n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    if n in memo: return memo[n]   # cache hit → sem nova soma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    memo[n] = fib_memo(n-1, memo) + fib_memo(n-2, memo)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    return memo[n]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5"/>
          <p:cNvSpPr/>
          <p:nvPr/>
        </p:nvSpPr>
        <p:spPr>
          <a:xfrm>
            <a:off x="5120640" y="804600"/>
            <a:ext cx="3702600" cy="71244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9" name="Text 6"/>
          <p:cNvSpPr/>
          <p:nvPr/>
        </p:nvSpPr>
        <p:spPr>
          <a:xfrm>
            <a:off x="5257800" y="850320"/>
            <a:ext cx="3428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Operações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7"/>
          <p:cNvSpPr/>
          <p:nvPr/>
        </p:nvSpPr>
        <p:spPr>
          <a:xfrm>
            <a:off x="5257800" y="1115640"/>
            <a:ext cx="3428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onsolas"/>
                <a:ea typeface="Consolas"/>
              </a:rPr>
              <a:t>Cada subproblema resolvido 1×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onsolas"/>
                <a:ea typeface="Consolas"/>
              </a:rPr>
              <a:t>C(n) = n − 1  somas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8"/>
          <p:cNvSpPr/>
          <p:nvPr/>
        </p:nvSpPr>
        <p:spPr>
          <a:xfrm>
            <a:off x="5120640" y="1627560"/>
            <a:ext cx="3702600" cy="71244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2" name="Text 9"/>
          <p:cNvSpPr/>
          <p:nvPr/>
        </p:nvSpPr>
        <p:spPr>
          <a:xfrm>
            <a:off x="5257800" y="1673280"/>
            <a:ext cx="3428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Complexidade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0"/>
          <p:cNvSpPr/>
          <p:nvPr/>
        </p:nvSpPr>
        <p:spPr>
          <a:xfrm>
            <a:off x="5257800" y="1938600"/>
            <a:ext cx="3428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onsolas"/>
                <a:ea typeface="Consolas"/>
              </a:rPr>
              <a:t>Tempo: Θ(n)   Espaço: Θ(n)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11"/>
          <p:cNvSpPr/>
          <p:nvPr/>
        </p:nvSpPr>
        <p:spPr>
          <a:xfrm>
            <a:off x="5120640" y="2450520"/>
            <a:ext cx="3702600" cy="71244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5" name="Text 12"/>
          <p:cNvSpPr/>
          <p:nvPr/>
        </p:nvSpPr>
        <p:spPr>
          <a:xfrm>
            <a:off x="5257800" y="2496240"/>
            <a:ext cx="3428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e9c46a"/>
                </a:solidFill>
                <a:effectLst/>
                <a:uFillTx/>
                <a:latin typeface="Cantarell"/>
                <a:ea typeface="Cantarell"/>
              </a:rPr>
              <a:t>Vs Recursivo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3"/>
          <p:cNvSpPr/>
          <p:nvPr/>
        </p:nvSpPr>
        <p:spPr>
          <a:xfrm>
            <a:off x="5257800" y="2761560"/>
            <a:ext cx="3428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onsolas"/>
                <a:ea typeface="Consolas"/>
              </a:rPr>
              <a:t>fib(30): 832.040 vs 29 somas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4"/>
          <p:cNvSpPr/>
          <p:nvPr/>
        </p:nvSpPr>
        <p:spPr>
          <a:xfrm>
            <a:off x="5120640" y="3273480"/>
            <a:ext cx="3702600" cy="712440"/>
          </a:xfrm>
          <a:prstGeom prst="rect">
            <a:avLst/>
          </a:prstGeom>
          <a:solidFill>
            <a:srgbClr val="2a9d8f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8" name="Text 15"/>
          <p:cNvSpPr/>
          <p:nvPr/>
        </p:nvSpPr>
        <p:spPr>
          <a:xfrm>
            <a:off x="5257800" y="3319200"/>
            <a:ext cx="3428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Melhoria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6"/>
          <p:cNvSpPr/>
          <p:nvPr/>
        </p:nvSpPr>
        <p:spPr>
          <a:xfrm>
            <a:off x="5257800" y="3584520"/>
            <a:ext cx="3428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De Θ(φⁿ) → Θ(n)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d1b2a"/>
                </a:solidFill>
                <a:effectLst/>
                <a:uFillTx/>
                <a:latin typeface="Consolas"/>
                <a:ea typeface="Consolas"/>
              </a:rPr>
              <a:t>exponencial → linear  ✓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17"/>
          <p:cNvSpPr/>
          <p:nvPr/>
        </p:nvSpPr>
        <p:spPr>
          <a:xfrm>
            <a:off x="320040" y="4074840"/>
            <a:ext cx="8503200" cy="621000"/>
          </a:xfrm>
          <a:prstGeom prst="rect">
            <a:avLst/>
          </a:prstGeom>
          <a:solidFill>
            <a:srgbClr val="2a9d8f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1" name="Text 18"/>
          <p:cNvSpPr/>
          <p:nvPr/>
        </p:nvSpPr>
        <p:spPr>
          <a:xfrm>
            <a:off x="502920" y="4074840"/>
            <a:ext cx="832032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Cantarell"/>
                <a:ea typeface="Cantarell"/>
              </a:rPr>
              <a:t>Memoização = PD Top-Down — elimina chamadas duplicadas sem eliminar a recursão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21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1b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3"/>
          <p:cNvSpPr/>
          <p:nvPr/>
        </p:nvSpPr>
        <p:spPr>
          <a:xfrm>
            <a:off x="320040" y="1281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Abordagem 3 — Iterativo (Bottom-Up)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22"/>
          <p:cNvSpPr/>
          <p:nvPr/>
        </p:nvSpPr>
        <p:spPr>
          <a:xfrm>
            <a:off x="320040" y="703800"/>
            <a:ext cx="8503920" cy="360"/>
          </a:xfrm>
          <a:prstGeom prst="line">
            <a:avLst/>
          </a:prstGeom>
          <a:ln w="1778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23"/>
          <p:cNvSpPr/>
          <p:nvPr/>
        </p:nvSpPr>
        <p:spPr>
          <a:xfrm>
            <a:off x="320040" y="804600"/>
            <a:ext cx="5074200" cy="2102400"/>
          </a:xfrm>
          <a:prstGeom prst="rect">
            <a:avLst/>
          </a:prstGeom>
          <a:solidFill>
            <a:srgbClr val="08192b"/>
          </a:solidFill>
          <a:ln w="0">
            <a:noFill/>
          </a:ln>
          <a:effectLst>
            <a:outerShdw algn="bl" blurRad="88920" dir="8100000" dist="37674" kx="0" ky="0" rotWithShape="0" sx="100000" sy="10000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4"/>
          <p:cNvSpPr/>
          <p:nvPr/>
        </p:nvSpPr>
        <p:spPr>
          <a:xfrm>
            <a:off x="457200" y="850320"/>
            <a:ext cx="4799880" cy="19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def fib_iterativo(n: int) -&gt; int: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    """Θ(n) tempo,  Θ(1) espaço."""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    if n &lt;= 1: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        return n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    a, b = 0, 1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    for _ in range(2, n + 1):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        a, b = b, a + b   # ← Op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a8d8a8"/>
                </a:solidFill>
                <a:effectLst/>
                <a:uFillTx/>
                <a:latin typeface="Cantarell"/>
                <a:ea typeface="Consolas"/>
              </a:rPr>
              <a:t>    return b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4"/>
          <p:cNvSpPr/>
          <p:nvPr/>
        </p:nvSpPr>
        <p:spPr>
          <a:xfrm>
            <a:off x="5559480" y="804600"/>
            <a:ext cx="3263760" cy="65772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algn="bl" blurRad="88920" dir="8100000" dist="37674" kx="0" ky="0" rotWithShape="0" sx="100000" sy="10000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5"/>
          <p:cNvSpPr/>
          <p:nvPr/>
        </p:nvSpPr>
        <p:spPr>
          <a:xfrm>
            <a:off x="5687640" y="850320"/>
            <a:ext cx="3016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Operações</a:t>
            </a:r>
            <a:endParaRPr lang="pt-B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6"/>
          <p:cNvSpPr/>
          <p:nvPr/>
        </p:nvSpPr>
        <p:spPr>
          <a:xfrm>
            <a:off x="5687640" y="1078920"/>
            <a:ext cx="30168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n − 1 somas no total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(uma por iteração do laço)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25"/>
          <p:cNvSpPr/>
          <p:nvPr/>
        </p:nvSpPr>
        <p:spPr>
          <a:xfrm>
            <a:off x="5559480" y="1554480"/>
            <a:ext cx="3263760" cy="65772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algn="bl" blurRad="88920" dir="8100000" dist="37674" kx="0" ky="0" rotWithShape="0" sx="100000" sy="10000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7"/>
          <p:cNvSpPr/>
          <p:nvPr/>
        </p:nvSpPr>
        <p:spPr>
          <a:xfrm>
            <a:off x="5687640" y="1600200"/>
            <a:ext cx="3016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Complexidade</a:t>
            </a:r>
            <a:endParaRPr lang="pt-B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8"/>
          <p:cNvSpPr/>
          <p:nvPr/>
        </p:nvSpPr>
        <p:spPr>
          <a:xfrm>
            <a:off x="5687640" y="1828800"/>
            <a:ext cx="30168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Tempo:   Θ(n)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Espaço:  Θ(1)  — só duas variáveis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6"/>
          <p:cNvSpPr/>
          <p:nvPr/>
        </p:nvSpPr>
        <p:spPr>
          <a:xfrm>
            <a:off x="5559480" y="2304360"/>
            <a:ext cx="3263760" cy="65772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algn="bl" blurRad="88920" dir="8100000" dist="37674" kx="0" ky="0" rotWithShape="0" sx="100000" sy="10000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9"/>
          <p:cNvSpPr/>
          <p:nvPr/>
        </p:nvSpPr>
        <p:spPr>
          <a:xfrm>
            <a:off x="5687640" y="2350080"/>
            <a:ext cx="3016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e9c46a"/>
                </a:solidFill>
                <a:effectLst/>
                <a:uFillTx/>
                <a:latin typeface="Cantarell"/>
                <a:ea typeface="Cantarell"/>
              </a:rPr>
              <a:t>Diferença chave</a:t>
            </a:r>
            <a:endParaRPr lang="pt-B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30"/>
          <p:cNvSpPr/>
          <p:nvPr/>
        </p:nvSpPr>
        <p:spPr>
          <a:xfrm>
            <a:off x="5687640" y="2578680"/>
            <a:ext cx="30168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Sem pilha de recursão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onsolas"/>
              </a:rPr>
              <a:t>→ nunca estoura a stack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7"/>
          <p:cNvSpPr/>
          <p:nvPr/>
        </p:nvSpPr>
        <p:spPr>
          <a:xfrm>
            <a:off x="5559480" y="3054240"/>
            <a:ext cx="3263760" cy="65772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algn="bl" blurRad="88920" dir="8100000" dist="37674" kx="0" ky="0" rotWithShape="0" sx="100000" sy="10000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31"/>
          <p:cNvSpPr/>
          <p:nvPr/>
        </p:nvSpPr>
        <p:spPr>
          <a:xfrm>
            <a:off x="5687640" y="3099960"/>
            <a:ext cx="3016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Vs Memoização</a:t>
            </a:r>
            <a:endParaRPr lang="pt-B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2"/>
          <p:cNvSpPr/>
          <p:nvPr/>
        </p:nvSpPr>
        <p:spPr>
          <a:xfrm>
            <a:off x="5687640" y="3328560"/>
            <a:ext cx="30168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onsolas"/>
                <a:ea typeface="Consolas"/>
              </a:rPr>
              <a:t>Mesmo Θ(n) de tempo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df4f7"/>
                </a:solidFill>
                <a:effectLst/>
                <a:uFillTx/>
                <a:latin typeface="Consolas"/>
                <a:ea typeface="Consolas"/>
              </a:rPr>
              <a:t>mas Θ(1) vs Θ(n) de espaço  ✓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9" name="Table 2"/>
          <p:cNvGraphicFramePr/>
          <p:nvPr/>
        </p:nvGraphicFramePr>
        <p:xfrm>
          <a:off x="320040" y="2999160"/>
          <a:ext cx="8503560" cy="129744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280160"/>
                <a:gridCol w="3566160"/>
              </a:tblGrid>
              <a:tr h="3243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Abordagem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Tempo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Espaço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Pilha Recursão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1b3a5c"/>
                    </a:solidFill>
                  </a:tcPr>
                </a:tc>
              </a:tr>
              <a:tr h="3243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0" u="none" strike="noStrike">
                          <a:solidFill>
                            <a:srgbClr val="e63946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Recursivo Ingênuo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0" u="none" strike="noStrike">
                          <a:solidFill>
                            <a:srgbClr val="e63946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Θ(φⁿ)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Θ(n)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Sim — profunda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</a:tr>
              <a:tr h="3243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0" u="none" strike="noStrike">
                          <a:solidFill>
                            <a:srgbClr val="2a9d8f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Memoização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0" u="none" strike="noStrike">
                          <a:solidFill>
                            <a:srgbClr val="2a9d8f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Θ(n)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Θ(n)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0" u="none" strike="noStrike">
                          <a:solidFill>
                            <a:srgbClr val="edf4f7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Sim — controlada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f2035"/>
                    </a:solidFill>
                  </a:tcPr>
                </a:tc>
              </a:tr>
              <a:tr h="3243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0" u="none" strike="noStrike">
                          <a:solidFill>
                            <a:srgbClr val="e9c46a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Iterativo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0" u="none" strike="noStrike">
                          <a:solidFill>
                            <a:srgbClr val="e9c46a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Θ(n)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0" u="none" strike="noStrike">
                          <a:solidFill>
                            <a:srgbClr val="2a9d8f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Θ(1)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050" b="0" u="none" strike="noStrike">
                          <a:solidFill>
                            <a:srgbClr val="2a9d8f"/>
                          </a:solidFill>
                          <a:effectLst/>
                          <a:uFillTx/>
                          <a:latin typeface="Cantarell"/>
                          <a:ea typeface="Cantarell"/>
                        </a:rPr>
                        <a:t>Não</a:t>
                      </a:r>
                      <a:endParaRPr lang="pt-B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3a5a"/>
                      </a:solidFill>
                      <a:prstDash val="solid"/>
                    </a:lnL>
                    <a:lnR w="12240">
                      <a:solidFill>
                        <a:srgbClr val="1e3a5a"/>
                      </a:solidFill>
                      <a:prstDash val="solid"/>
                    </a:lnR>
                    <a:lnT w="12240">
                      <a:solidFill>
                        <a:srgbClr val="1e3a5a"/>
                      </a:solidFill>
                      <a:prstDash val="solid"/>
                    </a:lnT>
                    <a:lnB w="12240">
                      <a:solidFill>
                        <a:srgbClr val="1e3a5a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</a:tr>
            </a:tbl>
          </a:graphicData>
        </a:graphic>
      </p:graphicFrame>
      <p:sp>
        <p:nvSpPr>
          <p:cNvPr id="180" name="Shape 28"/>
          <p:cNvSpPr/>
          <p:nvPr/>
        </p:nvSpPr>
        <p:spPr>
          <a:xfrm>
            <a:off x="320040" y="4370760"/>
            <a:ext cx="8503200" cy="593640"/>
          </a:xfrm>
          <a:prstGeom prst="rect">
            <a:avLst/>
          </a:prstGeom>
          <a:solidFill>
            <a:srgbClr val="1b3a5c"/>
          </a:solidFill>
          <a:ln w="0">
            <a:noFill/>
          </a:ln>
          <a:effectLst>
            <a:outerShdw algn="bl" blurRad="88920" dir="8100000" dist="37674" kx="0" ky="0" rotWithShape="0" sx="100000" sy="10000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33"/>
          <p:cNvSpPr/>
          <p:nvPr/>
        </p:nvSpPr>
        <p:spPr>
          <a:xfrm>
            <a:off x="475560" y="4370760"/>
            <a:ext cx="83203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✓  Iterativo = solução ótima na prática — Θ(n) tempo e Θ(1) espaço, sem overhead de pilha de recursão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2a9d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3" name="Text 1"/>
          <p:cNvSpPr/>
          <p:nvPr/>
        </p:nvSpPr>
        <p:spPr>
          <a:xfrm>
            <a:off x="320040" y="1281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Conclusões — Plano de ARs Aplicado ao Fibonacci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2"/>
          <p:cNvSpPr/>
          <p:nvPr/>
        </p:nvSpPr>
        <p:spPr>
          <a:xfrm>
            <a:off x="320040" y="703800"/>
            <a:ext cx="8503920" cy="360"/>
          </a:xfrm>
          <a:prstGeom prst="line">
            <a:avLst/>
          </a:prstGeom>
          <a:ln w="1764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5" name="Shape 3"/>
          <p:cNvSpPr/>
          <p:nvPr/>
        </p:nvSpPr>
        <p:spPr>
          <a:xfrm>
            <a:off x="320040" y="868680"/>
            <a:ext cx="8503200" cy="71244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6" name="Shape 4"/>
          <p:cNvSpPr/>
          <p:nvPr/>
        </p:nvSpPr>
        <p:spPr>
          <a:xfrm>
            <a:off x="320040" y="868680"/>
            <a:ext cx="54000" cy="712440"/>
          </a:xfrm>
          <a:prstGeom prst="rect">
            <a:avLst/>
          </a:prstGeom>
          <a:solidFill>
            <a:srgbClr val="2a9d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530280" y="923400"/>
            <a:ext cx="1370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Passo 1–3</a:t>
            </a:r>
            <a:endParaRPr lang="pt-B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6"/>
          <p:cNvSpPr/>
          <p:nvPr/>
        </p:nvSpPr>
        <p:spPr>
          <a:xfrm>
            <a:off x="530280" y="1179720"/>
            <a:ext cx="81831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n = índice · Op = soma · Sem melhor/pior caso  →  análise única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7"/>
          <p:cNvSpPr/>
          <p:nvPr/>
        </p:nvSpPr>
        <p:spPr>
          <a:xfrm>
            <a:off x="320040" y="1691640"/>
            <a:ext cx="8503200" cy="712440"/>
          </a:xfrm>
          <a:prstGeom prst="rect">
            <a:avLst/>
          </a:prstGeom>
          <a:solidFill>
            <a:srgbClr val="0f2035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0" name="Shape 8"/>
          <p:cNvSpPr/>
          <p:nvPr/>
        </p:nvSpPr>
        <p:spPr>
          <a:xfrm>
            <a:off x="320040" y="1691640"/>
            <a:ext cx="54000" cy="712440"/>
          </a:xfrm>
          <a:prstGeom prst="rect">
            <a:avLst/>
          </a:prstGeom>
          <a:solidFill>
            <a:srgbClr val="f4a2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1" name="Text 9"/>
          <p:cNvSpPr/>
          <p:nvPr/>
        </p:nvSpPr>
        <p:spPr>
          <a:xfrm>
            <a:off x="530280" y="1746360"/>
            <a:ext cx="1370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f4a261"/>
                </a:solidFill>
                <a:effectLst/>
                <a:uFillTx/>
                <a:latin typeface="Cantarell"/>
                <a:ea typeface="Cantarell"/>
              </a:rPr>
              <a:t>Passo 4</a:t>
            </a:r>
            <a:endParaRPr lang="pt-B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0"/>
          <p:cNvSpPr/>
          <p:nvPr/>
        </p:nvSpPr>
        <p:spPr>
          <a:xfrm>
            <a:off x="530280" y="2002680"/>
            <a:ext cx="81831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R(n) = C(n-1) + C(n-2) + 1,   C(0)=C(1)=0   — recorrência linear inhomogênea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1"/>
          <p:cNvSpPr/>
          <p:nvPr/>
        </p:nvSpPr>
        <p:spPr>
          <a:xfrm>
            <a:off x="320040" y="2514600"/>
            <a:ext cx="8503200" cy="71244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4" name="Shape 12"/>
          <p:cNvSpPr/>
          <p:nvPr/>
        </p:nvSpPr>
        <p:spPr>
          <a:xfrm>
            <a:off x="320040" y="2514600"/>
            <a:ext cx="54000" cy="71244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5" name="Text 13"/>
          <p:cNvSpPr/>
          <p:nvPr/>
        </p:nvSpPr>
        <p:spPr>
          <a:xfrm>
            <a:off x="530280" y="2569320"/>
            <a:ext cx="1370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e63946"/>
                </a:solidFill>
                <a:effectLst/>
                <a:uFillTx/>
                <a:latin typeface="Cantarell"/>
                <a:ea typeface="Cantarell"/>
              </a:rPr>
              <a:t>Passo 5</a:t>
            </a:r>
            <a:endParaRPr lang="pt-B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4"/>
          <p:cNvSpPr/>
          <p:nvPr/>
        </p:nvSpPr>
        <p:spPr>
          <a:xfrm>
            <a:off x="530280" y="2825640"/>
            <a:ext cx="81831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Equação característica  →  C(n) = φⁿ⁺¹ − 1  ∈  Θ(φⁿ)  ≈  Θ(2ⁿ)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5"/>
          <p:cNvSpPr/>
          <p:nvPr/>
        </p:nvSpPr>
        <p:spPr>
          <a:xfrm>
            <a:off x="320040" y="3337560"/>
            <a:ext cx="8503200" cy="712440"/>
          </a:xfrm>
          <a:prstGeom prst="rect">
            <a:avLst/>
          </a:prstGeom>
          <a:solidFill>
            <a:srgbClr val="0f2035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8" name="Shape 16"/>
          <p:cNvSpPr/>
          <p:nvPr/>
        </p:nvSpPr>
        <p:spPr>
          <a:xfrm>
            <a:off x="320040" y="3337560"/>
            <a:ext cx="54000" cy="712440"/>
          </a:xfrm>
          <a:prstGeom prst="rect">
            <a:avLst/>
          </a:prstGeom>
          <a:solidFill>
            <a:srgbClr val="e9c4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9" name="Text 17"/>
          <p:cNvSpPr/>
          <p:nvPr/>
        </p:nvSpPr>
        <p:spPr>
          <a:xfrm>
            <a:off x="530280" y="3392280"/>
            <a:ext cx="1370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e9c46a"/>
                </a:solidFill>
                <a:effectLst/>
                <a:uFillTx/>
                <a:latin typeface="Cantarell"/>
                <a:ea typeface="Cantarell"/>
              </a:rPr>
              <a:t>Problema</a:t>
            </a:r>
            <a:endParaRPr lang="pt-B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8"/>
          <p:cNvSpPr/>
          <p:nvPr/>
        </p:nvSpPr>
        <p:spPr>
          <a:xfrm>
            <a:off x="530280" y="3648600"/>
            <a:ext cx="81831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Subproblemas sobrepostos: fib(3) calculado 2×, fib(2) 3× — motivação para PD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9"/>
          <p:cNvSpPr/>
          <p:nvPr/>
        </p:nvSpPr>
        <p:spPr>
          <a:xfrm>
            <a:off x="320040" y="4160520"/>
            <a:ext cx="8503200" cy="712440"/>
          </a:xfrm>
          <a:prstGeom prst="rect">
            <a:avLst/>
          </a:prstGeom>
          <a:solidFill>
            <a:srgbClr val="023047"/>
          </a:solidFill>
          <a:ln w="0">
            <a:noFill/>
          </a:ln>
          <a:effectLst>
            <a:outerShdw blurRad="88920" dir="8100000" dist="37674" rotWithShape="0">
              <a:srgbClr val="000000">
                <a:alpha val="1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2" name="Shape 20"/>
          <p:cNvSpPr/>
          <p:nvPr/>
        </p:nvSpPr>
        <p:spPr>
          <a:xfrm>
            <a:off x="320040" y="4160520"/>
            <a:ext cx="54000" cy="712440"/>
          </a:xfrm>
          <a:prstGeom prst="rect">
            <a:avLst/>
          </a:prstGeom>
          <a:solidFill>
            <a:srgbClr val="2a9d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3" name="Text 21"/>
          <p:cNvSpPr/>
          <p:nvPr/>
        </p:nvSpPr>
        <p:spPr>
          <a:xfrm>
            <a:off x="530280" y="4215240"/>
            <a:ext cx="1370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2a9d8f"/>
                </a:solidFill>
                <a:effectLst/>
                <a:uFillTx/>
                <a:latin typeface="Cantarell"/>
                <a:ea typeface="Cantarell"/>
              </a:rPr>
              <a:t>Solução</a:t>
            </a:r>
            <a:endParaRPr lang="pt-B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22"/>
          <p:cNvSpPr/>
          <p:nvPr/>
        </p:nvSpPr>
        <p:spPr>
          <a:xfrm>
            <a:off x="530280" y="4471560"/>
            <a:ext cx="81831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df4f7"/>
                </a:solidFill>
                <a:effectLst/>
                <a:uFillTx/>
                <a:latin typeface="Cantarell"/>
                <a:ea typeface="Cantarell"/>
              </a:rPr>
              <a:t>Memoização → Θ(n) tempo Θ(n) espaço · Iterativo → Θ(n) tempo Θ(1) espaço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</TotalTime>
  <Application>LibreOffice/25.8.6.2$Linux_X86_64 LibreOffice_project/580$Build-2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2026-04-26T10:26:53Z</dcterms:created>
  <dc:creator>PptxGenJS</dc:creator>
  <dc:description/>
  <dc:language>pt-BR</dc:language>
  <cp:lastModifiedBy/>
  <dcterms:modified xsi:type="dcterms:W3CDTF">2026-04-26T07:11:45Z</dcterms:modified>
  <cp:revision>5</cp:revision>
  <dc:subject>PptxGenJS Presentation</dc:subject>
  <dc:title>Fibonacci — Análise de Algoritmos Recursivos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15</vt:r8>
  </property>
  <property fmtid="{D5CDD505-2E9C-101B-9397-08002B2CF9AE}" pid="3" name="PresentationFormat">
    <vt:lpwstr>On-screen Show (16:9)</vt:lpwstr>
  </property>
  <property fmtid="{D5CDD505-2E9C-101B-9397-08002B2CF9AE}" pid="4" name="Slides">
    <vt:r8>15</vt:r8>
  </property>
</Properties>
</file>